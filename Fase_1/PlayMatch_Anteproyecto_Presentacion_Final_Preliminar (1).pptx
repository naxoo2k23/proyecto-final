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80B1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E0D0"/>
          </a:solidFill>
          <a:ln cap="flat" cmpd="sng" w="12700">
            <a:solidFill>
              <a:srgbClr val="35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38912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79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rPr>
              <a:t>PLAYMATCH  ·  PROYECTO APT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8799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2"/>
          </a:solidFill>
          <a:ln cap="flat" cmpd="sng" w="12700">
            <a:solidFill>
              <a:srgbClr val="080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29600" y="502920"/>
            <a:ext cx="3108960" cy="3108960"/>
          </a:xfrm>
          <a:prstGeom prst="ellipse">
            <a:avLst/>
          </a:prstGeom>
          <a:solidFill>
            <a:srgbClr val="8B5CF6">
              <a:alpha val="16078"/>
            </a:srgbClr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9144000" y="1143000"/>
            <a:ext cx="1828800" cy="1828800"/>
          </a:xfrm>
          <a:prstGeom prst="ellipse">
            <a:avLst/>
          </a:prstGeom>
          <a:solidFill>
            <a:srgbClr val="35E0D0">
              <a:alpha val="12941"/>
            </a:srgbClr>
          </a:solidFill>
          <a:ln cap="flat" cmpd="sng" w="12700">
            <a:solidFill>
              <a:srgbClr val="35E0D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21792" y="566928"/>
            <a:ext cx="1938528" cy="274320"/>
          </a:xfrm>
          <a:prstGeom prst="roundRect">
            <a:avLst>
              <a:gd fmla="val 50000" name="adj"/>
            </a:avLst>
          </a:prstGeom>
          <a:solidFill>
            <a:srgbClr val="0E2627"/>
          </a:solidFill>
          <a:ln cap="flat" cmpd="sng" w="12700">
            <a:solidFill>
              <a:srgbClr val="0E2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76656" y="5897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PROYECTO APT · ANTEPROYECTO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21792" y="1325880"/>
            <a:ext cx="6766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PLAYMATCH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2148840"/>
            <a:ext cx="6400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Plataforma web de emparejamiento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social y gestión de torneos para gamers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349300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Ingeniería Informática · Desarrollo individual · 2026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4590288"/>
            <a:ext cx="5394960" cy="914400"/>
          </a:xfrm>
          <a:prstGeom prst="roundRect">
            <a:avLst>
              <a:gd fmla="val 16000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2196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68680" y="4764024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799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C8799"/>
                </a:solidFill>
                <a:latin typeface="Arial"/>
                <a:ea typeface="Arial"/>
                <a:cs typeface="Arial"/>
                <a:sym typeface="Arial"/>
              </a:rPr>
              <a:t>IDEA CENTRAL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965960" y="4681728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Conectar mejor a los jugadores y ordenar el gaming competitivo amateur.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503920" y="4114800"/>
            <a:ext cx="237744" cy="237744"/>
          </a:xfrm>
          <a:prstGeom prst="ellipse">
            <a:avLst/>
          </a:prstGeom>
          <a:solidFill>
            <a:srgbClr val="35E0D0"/>
          </a:solidFill>
          <a:ln cap="flat" cmpd="sng" w="12700">
            <a:solidFill>
              <a:srgbClr val="35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601200" y="3794760"/>
            <a:ext cx="237744" cy="237744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698480" y="4224528"/>
            <a:ext cx="237744" cy="237744"/>
          </a:xfrm>
          <a:prstGeom prst="ellipse">
            <a:avLst/>
          </a:prstGeom>
          <a:solidFill>
            <a:srgbClr val="35E0D0"/>
          </a:solidFill>
          <a:ln cap="flat" cmpd="sng" w="12700">
            <a:solidFill>
              <a:srgbClr val="35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144000" y="4846320"/>
            <a:ext cx="237744" cy="237744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195560" y="4937760"/>
            <a:ext cx="237744" cy="237744"/>
          </a:xfrm>
          <a:prstGeom prst="ellipse">
            <a:avLst/>
          </a:prstGeom>
          <a:solidFill>
            <a:srgbClr val="35E0D0"/>
          </a:solidFill>
          <a:ln cap="flat" cmpd="sng" w="12700">
            <a:solidFill>
              <a:srgbClr val="35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4"/>
          <p:cNvCxnSpPr/>
          <p:nvPr/>
        </p:nvCxnSpPr>
        <p:spPr>
          <a:xfrm flipH="1" rot="10800000">
            <a:off x="8613648" y="3977640"/>
            <a:ext cx="1005840" cy="246888"/>
          </a:xfrm>
          <a:prstGeom prst="straightConnector1">
            <a:avLst/>
          </a:prstGeom>
          <a:noFill/>
          <a:ln cap="flat" cmpd="sng" w="17775">
            <a:solidFill>
              <a:srgbClr val="3552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4"/>
          <p:cNvCxnSpPr/>
          <p:nvPr/>
        </p:nvCxnSpPr>
        <p:spPr>
          <a:xfrm>
            <a:off x="9710928" y="3904488"/>
            <a:ext cx="932688" cy="384048"/>
          </a:xfrm>
          <a:prstGeom prst="straightConnector1">
            <a:avLst/>
          </a:prstGeom>
          <a:noFill/>
          <a:ln cap="flat" cmpd="sng" w="17775">
            <a:solidFill>
              <a:srgbClr val="3552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4"/>
          <p:cNvCxnSpPr/>
          <p:nvPr/>
        </p:nvCxnSpPr>
        <p:spPr>
          <a:xfrm rot="10800000">
            <a:off x="8759952" y="4169664"/>
            <a:ext cx="512064" cy="658368"/>
          </a:xfrm>
          <a:prstGeom prst="straightConnector1">
            <a:avLst/>
          </a:prstGeom>
          <a:noFill/>
          <a:ln cap="flat" cmpd="sng" w="17775">
            <a:solidFill>
              <a:srgbClr val="3552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4"/>
          <p:cNvCxnSpPr/>
          <p:nvPr/>
        </p:nvCxnSpPr>
        <p:spPr>
          <a:xfrm rot="10800000">
            <a:off x="10177272" y="4370832"/>
            <a:ext cx="137160" cy="658368"/>
          </a:xfrm>
          <a:prstGeom prst="straightConnector1">
            <a:avLst/>
          </a:prstGeom>
          <a:noFill/>
          <a:ln cap="flat" cmpd="sng" w="17775">
            <a:solidFill>
              <a:srgbClr val="3552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502920" y="62179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El problema detrás de PlayMatch</a:t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502920" y="11155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La propuesta parte de una necesidad observada en la experiencia gamer y en la organización de torneos amateur.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02920" y="1673352"/>
            <a:ext cx="5440680" cy="4233672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58952" y="19019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758952" y="224028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¿Qué está pasando hoy?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58952" y="2880360"/>
            <a:ext cx="109728" cy="109728"/>
          </a:xfrm>
          <a:prstGeom prst="rect">
            <a:avLst/>
          </a:prstGeom>
          <a:solidFill>
            <a:srgbClr val="22D3C6"/>
          </a:solidFill>
          <a:ln cap="flat" cmpd="sng" w="10150">
            <a:solidFill>
              <a:srgbClr val="22D3C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960120" y="2834640"/>
            <a:ext cx="4416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Jugadores sin grupo fijo dependen de la solo queue y pueden enfrentar aislamiento, incompatibilidad y toxicidad.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758952" y="3675887"/>
            <a:ext cx="109728" cy="109728"/>
          </a:xfrm>
          <a:prstGeom prst="rect">
            <a:avLst/>
          </a:prstGeom>
          <a:solidFill>
            <a:srgbClr val="22D3C6"/>
          </a:solidFill>
          <a:ln cap="flat" cmpd="sng" w="10150">
            <a:solidFill>
              <a:srgbClr val="22D3C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960120" y="3630168"/>
            <a:ext cx="4416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Los torneos amateur se gestionan de manera fragmentada mediante Discord, planillas y herramientas no especializadas.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144768" y="1673352"/>
            <a:ext cx="5541264" cy="4233672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6400800" y="19019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815CF6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6400800" y="224028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Centralizar la experiencia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6400800" y="2907792"/>
            <a:ext cx="4617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PlayMatch busca reunir en una sola plataforma el encuentro entre jugadores y la organización de competencias, partiendo por un MVP acotado.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400800" y="4590288"/>
            <a:ext cx="4709160" cy="32004"/>
          </a:xfrm>
          <a:prstGeom prst="rect">
            <a:avLst/>
          </a:prstGeom>
          <a:solidFill>
            <a:srgbClr val="81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6400800" y="482803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FOCO INICIAL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6400800" y="5093208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Comunidad gamer chilena · experiencia web simple · crecimiento por etapas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502920" y="6547104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PLAYMATCH ·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5A9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502920" y="62179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¿Por qué se crea este proyecto?</a:t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502920" y="11155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PlayMatch nace para convertir una problemática concreta en una solución tecnológica demostrable.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502920" y="1783080"/>
            <a:ext cx="3529584" cy="356616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758952" y="20299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758952" y="249631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9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Mejorar la experiencia social</a:t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758952" y="3337560"/>
            <a:ext cx="2880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Ayudar a encontrar compañeros compatibles y reducir experiencias negativas de la solo queue.</a:t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758952" y="4892040"/>
            <a:ext cx="2606040" cy="27432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361688" y="1783080"/>
            <a:ext cx="3529584" cy="356616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4617720" y="20299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solidFill>
                  <a:srgbClr val="815C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4617720" y="249631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9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Ordenar la competencia amateur</a:t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4617720" y="3337560"/>
            <a:ext cx="2880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Centralizar inscripción, llaves y resultados en un entorno más estructurado.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617720" y="4892040"/>
            <a:ext cx="2606040" cy="27432"/>
          </a:xfrm>
          <a:prstGeom prst="rect">
            <a:avLst/>
          </a:prstGeom>
          <a:solidFill>
            <a:srgbClr val="81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220456" y="1783080"/>
            <a:ext cx="3529584" cy="3566160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8476488" y="20299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solidFill>
                  <a:srgbClr val="F5A94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8476488" y="249631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9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Demostrar competencias profesionales</a:t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8476488" y="3337560"/>
            <a:ext cx="2880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2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Integrar software, datos, infraestructura y gestión en un producto realista.</a:t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8476488" y="4892040"/>
            <a:ext cx="2606040" cy="27432"/>
          </a:xfrm>
          <a:prstGeom prst="rect">
            <a:avLst/>
          </a:prstGeom>
          <a:solidFill>
            <a:srgbClr val="F5A9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2920" y="5596128"/>
            <a:ext cx="11183112" cy="576072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749808" y="574243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9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RESPUESTA</a:t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1645920" y="5669280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Porque existe una necesidad clara y, al mismo tiempo, un escenario adecuado para aplicar ingeniería informática de principio a fin.</a:t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502920" y="6547104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PLAYMATCH · PROYECTO APT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01 · DESCRIPCIÓN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¿Qué es PlayMatch y por qué es relevante?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Una solución web enfocada en la comunidad gamer chilena.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94360" y="1874520"/>
            <a:ext cx="5394960" cy="4069080"/>
          </a:xfrm>
          <a:prstGeom prst="roundRect">
            <a:avLst>
              <a:gd fmla="val 3596" name="adj"/>
            </a:avLst>
          </a:prstGeom>
          <a:solidFill>
            <a:srgbClr val="101621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blurRad="322579988" rotWithShape="0" algn="bl" dist="161290000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50392" y="2139696"/>
            <a:ext cx="1051560" cy="274320"/>
          </a:xfrm>
          <a:prstGeom prst="roundRect">
            <a:avLst>
              <a:gd fmla="val 50000" name="adj"/>
            </a:avLst>
          </a:prstGeom>
          <a:solidFill>
            <a:srgbClr val="0E2627"/>
          </a:solidFill>
          <a:ln cap="flat" cmpd="sng" w="12700">
            <a:solidFill>
              <a:srgbClr val="0E2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905256" y="2162556"/>
            <a:ext cx="9418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DESCRIPCIÓN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850392" y="263347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Plataforma web full-stack que combina: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68680" y="3355848"/>
            <a:ext cx="82296" cy="82296"/>
          </a:xfrm>
          <a:prstGeom prst="ellipse">
            <a:avLst/>
          </a:prstGeom>
          <a:solidFill>
            <a:srgbClr val="35E0D0"/>
          </a:solidFill>
          <a:ln cap="flat" cmpd="sng" w="12700">
            <a:solidFill>
              <a:srgbClr val="35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033272" y="3246120"/>
            <a:ext cx="4315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Perfiles de jugador y autenticación segura.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68680" y="3995928"/>
            <a:ext cx="82296" cy="82296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033272" y="3886200"/>
            <a:ext cx="4315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Matchmaking social según compatibilidad.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68680" y="4636008"/>
            <a:ext cx="82296" cy="82296"/>
          </a:xfrm>
          <a:prstGeom prst="ellipse">
            <a:avLst/>
          </a:prstGeom>
          <a:solidFill>
            <a:srgbClr val="56E39F"/>
          </a:solidFill>
          <a:ln cap="flat" cmpd="sng" w="12700">
            <a:solidFill>
              <a:srgbClr val="56E3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33272" y="4526280"/>
            <a:ext cx="4315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Chat privado para coordinar partidas.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68680" y="5276088"/>
            <a:ext cx="82296" cy="82296"/>
          </a:xfrm>
          <a:prstGeom prst="ellipse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33272" y="5166360"/>
            <a:ext cx="4315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Gestión de torneos y resultados.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245352" y="1874520"/>
            <a:ext cx="5321808" cy="4069080"/>
          </a:xfrm>
          <a:prstGeom prst="roundRect">
            <a:avLst>
              <a:gd fmla="val 3596" name="adj"/>
            </a:avLst>
          </a:prstGeom>
          <a:solidFill>
            <a:srgbClr val="0D121A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blurRad="4096766062500" rotWithShape="0" algn="bl" dist="-316400192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92240" y="2139696"/>
            <a:ext cx="1051560" cy="274320"/>
          </a:xfrm>
          <a:prstGeom prst="roundRect">
            <a:avLst>
              <a:gd fmla="val 50000" name="adj"/>
            </a:avLst>
          </a:prstGeom>
          <a:solidFill>
            <a:srgbClr val="2C2318"/>
          </a:solidFill>
          <a:ln cap="flat" cmpd="sng" w="12700">
            <a:solidFill>
              <a:srgbClr val="2C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547104" y="2162556"/>
            <a:ext cx="9418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B86B"/>
                </a:solidFill>
                <a:latin typeface="Arial"/>
                <a:ea typeface="Arial"/>
                <a:cs typeface="Arial"/>
                <a:sym typeface="Arial"/>
              </a:rPr>
              <a:t>RELEVANCIA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92240" y="26334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Problema que aborda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510528" y="3310128"/>
            <a:ext cx="82296" cy="82296"/>
          </a:xfrm>
          <a:prstGeom prst="ellipse">
            <a:avLst/>
          </a:prstGeom>
          <a:solidFill>
            <a:srgbClr val="FF6B7A"/>
          </a:solidFill>
          <a:ln cap="flat" cmpd="sng" w="12700">
            <a:solidFill>
              <a:srgbClr val="F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675120" y="3200400"/>
            <a:ext cx="43159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Solo queue: aislamiento y toxicidad.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510528" y="3931920"/>
            <a:ext cx="82296" cy="82296"/>
          </a:xfrm>
          <a:prstGeom prst="ellipse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75120" y="3822192"/>
            <a:ext cx="43159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Torneos amateur fragmentados en Discord/Excel.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510528" y="4700016"/>
            <a:ext cx="82296" cy="82296"/>
          </a:xfrm>
          <a:prstGeom prst="ellipse">
            <a:avLst/>
          </a:prstGeom>
          <a:solidFill>
            <a:srgbClr val="FFB86B"/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675120" y="4590288"/>
            <a:ext cx="43159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Falta de una plataforma local unificada.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92240" y="52303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Aporte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315200" y="5148072"/>
            <a:ext cx="3794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Centraliza la experiencia social y competitiva.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C9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CRITERIOS CLAVE</a:t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502920" y="62179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Puntos importantes antes de desarrollar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502920" y="11155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Las decisiones del MVP se toman considerando alcance, usuario, calidad y factibilidad.</a:t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502920" y="1719072"/>
            <a:ext cx="5230368" cy="1042415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04088" y="18836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704088" y="221284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MVP realizable en 18 semanas, priorizando funciones esenciales.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257800" y="1901952"/>
            <a:ext cx="201168" cy="201168"/>
          </a:xfrm>
          <a:prstGeom prst="rect">
            <a:avLst/>
          </a:prstGeom>
          <a:solidFill>
            <a:srgbClr val="22D3C6"/>
          </a:solidFill>
          <a:ln cap="flat" cmpd="sng" w="10150">
            <a:solidFill>
              <a:srgbClr val="22D3C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153912" y="1719072"/>
            <a:ext cx="5230368" cy="1042415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6355079" y="18836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6355079" y="221284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Flujo simple para encontrar, contactar y competir.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0908792" y="1901952"/>
            <a:ext cx="201168" cy="201168"/>
          </a:xfrm>
          <a:prstGeom prst="rect">
            <a:avLst/>
          </a:prstGeom>
          <a:solidFill>
            <a:srgbClr val="815CF6"/>
          </a:solidFill>
          <a:ln cap="flat" cmpd="sng" w="10150">
            <a:solidFill>
              <a:srgbClr val="815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02920" y="3044952"/>
            <a:ext cx="5230368" cy="1042415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04088" y="320954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704088" y="353872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Modelo relacional preparado para crecer.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257800" y="3227832"/>
            <a:ext cx="201168" cy="201168"/>
          </a:xfrm>
          <a:prstGeom prst="rect">
            <a:avLst/>
          </a:prstGeom>
          <a:solidFill>
            <a:srgbClr val="F5A949"/>
          </a:solidFill>
          <a:ln cap="flat" cmpd="sng" w="10150">
            <a:solidFill>
              <a:srgbClr val="F5A94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153912" y="3044952"/>
            <a:ext cx="5230368" cy="1042415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6355079" y="320954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6355079" y="3538728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Autenticación y credenciales protegidas.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10908792" y="3227832"/>
            <a:ext cx="201168" cy="201168"/>
          </a:xfrm>
          <a:prstGeom prst="rect">
            <a:avLst/>
          </a:prstGeom>
          <a:solidFill>
            <a:srgbClr val="4AC990"/>
          </a:solidFill>
          <a:ln cap="flat" cmpd="sng" w="10150">
            <a:solidFill>
              <a:srgbClr val="4AC9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02920" y="4370831"/>
            <a:ext cx="5230368" cy="1042415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704088" y="4535423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704088" y="4864607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Git + Docker para portabilidad y orden.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257800" y="4553712"/>
            <a:ext cx="201168" cy="201168"/>
          </a:xfrm>
          <a:prstGeom prst="rect">
            <a:avLst/>
          </a:prstGeom>
          <a:solidFill>
            <a:srgbClr val="22D3C6"/>
          </a:solidFill>
          <a:ln cap="flat" cmpd="sng" w="10150">
            <a:solidFill>
              <a:srgbClr val="22D3C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153912" y="4370831"/>
            <a:ext cx="5230368" cy="1042415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6355079" y="4535423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6355079" y="4864607"/>
            <a:ext cx="4617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7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Pruebas y evidencias que permitan validar objetivos.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0908792" y="4553712"/>
            <a:ext cx="201168" cy="201168"/>
          </a:xfrm>
          <a:prstGeom prst="rect">
            <a:avLst/>
          </a:prstGeom>
          <a:solidFill>
            <a:srgbClr val="815CF6"/>
          </a:solidFill>
          <a:ln cap="flat" cmpd="sng" w="10150">
            <a:solidFill>
              <a:srgbClr val="815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02920" y="5742432"/>
            <a:ext cx="11183112" cy="438912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749808" y="585216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9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PRINCIPIO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1572768" y="5797296"/>
            <a:ext cx="9509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Primero validar el núcleo del producto; luego incorporar integraciones y funciones avanzadas.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502920" y="6547104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PLAYMATCH · PROYECTO APT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02 · PERFIL DE EGRESO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Competencias que PlayMatch pone en práctica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El proyecto integra desarrollo, datos, infraestructura y gestión.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40080" y="2011680"/>
            <a:ext cx="5230368" cy="1444752"/>
          </a:xfrm>
          <a:prstGeom prst="roundRect">
            <a:avLst>
              <a:gd fmla="val 1012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blurRad="52028925000000000" rotWithShape="0" algn="bl" dist="1806950656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41248" y="2258568"/>
            <a:ext cx="475488" cy="475488"/>
          </a:xfrm>
          <a:prstGeom prst="ellipse">
            <a:avLst/>
          </a:prstGeom>
          <a:solidFill>
            <a:srgbClr val="35E0D0">
              <a:alpha val="92157"/>
            </a:srgbClr>
          </a:solidFill>
          <a:ln cap="flat" cmpd="sng" w="12700">
            <a:solidFill>
              <a:srgbClr val="35E0D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35E0D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841248" y="2267712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463040" y="2212848"/>
            <a:ext cx="3977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Desarrollo de software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463040" y="2578608"/>
            <a:ext cx="4069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Sistematizar el desarrollo y mantenimiento de una solución que cumpla los objetivos.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263640" y="2011680"/>
            <a:ext cx="5230368" cy="1444752"/>
          </a:xfrm>
          <a:prstGeom prst="roundRect">
            <a:avLst>
              <a:gd fmla="val 1012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64808" y="2258568"/>
            <a:ext cx="475488" cy="475488"/>
          </a:xfrm>
          <a:prstGeom prst="ellipse">
            <a:avLst/>
          </a:prstGeom>
          <a:solidFill>
            <a:srgbClr val="8B5CF6">
              <a:alpha val="92157"/>
            </a:srgbClr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322579988" rotWithShape="0" algn="bl" dist="161290000">
              <a:srgbClr val="35E0D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64808" y="2267712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▦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086600" y="2212848"/>
            <a:ext cx="3977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Modelos de datos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086600" y="2578608"/>
            <a:ext cx="4069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Diseñar una base relacional escalable para perfiles, matches y torneos.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0080" y="3840480"/>
            <a:ext cx="5230368" cy="1444752"/>
          </a:xfrm>
          <a:prstGeom prst="roundRect">
            <a:avLst>
              <a:gd fmla="val 1012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41248" y="4087368"/>
            <a:ext cx="475488" cy="475488"/>
          </a:xfrm>
          <a:prstGeom prst="ellipse">
            <a:avLst/>
          </a:prstGeom>
          <a:solidFill>
            <a:srgbClr val="FFB86B">
              <a:alpha val="92157"/>
            </a:srgbClr>
          </a:solidFill>
          <a:ln cap="flat" cmpd="sng" w="12700">
            <a:solidFill>
              <a:srgbClr val="FFB8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096766062500" rotWithShape="0" algn="bl" dist="-316400192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41248" y="4096512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463040" y="4041648"/>
            <a:ext cx="3977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463040" y="4407408"/>
            <a:ext cx="4069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Administrar ambientes, servicios y bases de datos en un entorno simulado.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263640" y="3840480"/>
            <a:ext cx="5230368" cy="1444752"/>
          </a:xfrm>
          <a:prstGeom prst="roundRect">
            <a:avLst>
              <a:gd fmla="val 1012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464808" y="4087368"/>
            <a:ext cx="475488" cy="475488"/>
          </a:xfrm>
          <a:prstGeom prst="ellipse">
            <a:avLst/>
          </a:prstGeom>
          <a:solidFill>
            <a:srgbClr val="56E39F">
              <a:alpha val="92157"/>
            </a:srgbClr>
          </a:solidFill>
          <a:ln cap="flat" cmpd="sng" w="12700">
            <a:solidFill>
              <a:srgbClr val="56E39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2028925000000000" rotWithShape="0" algn="bl" dist="1806950656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64808" y="4096512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◎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086600" y="4041648"/>
            <a:ext cx="3977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Gestión de proyectos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086600" y="4407408"/>
            <a:ext cx="4069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Planificar actividades y tomar decisiones según los requerimientos.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58368" y="5724144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Áreas de desempeño: Desarrollo de Software · Administración de Infraestructura y Bases de Datos · Gestión de Proyectos Informáticos.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03 · INTERESES PROFESIONALES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PlayMatch también construye mi perfil profesional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El proyecto conecta aprendizaje técnico con una industria que me interesa.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40080" y="1993392"/>
            <a:ext cx="3429000" cy="3611880"/>
          </a:xfrm>
          <a:prstGeom prst="roundRect">
            <a:avLst>
              <a:gd fmla="val 4267" name="adj"/>
            </a:avLst>
          </a:prstGeom>
          <a:solidFill>
            <a:srgbClr val="101621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14400" y="2286000"/>
            <a:ext cx="475488" cy="475488"/>
          </a:xfrm>
          <a:prstGeom prst="ellipse">
            <a:avLst/>
          </a:prstGeom>
          <a:solidFill>
            <a:srgbClr val="35E0D0">
              <a:alpha val="92157"/>
            </a:srgbClr>
          </a:solidFill>
          <a:ln cap="flat" cmpd="sng" w="12700">
            <a:solidFill>
              <a:srgbClr val="35E0D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14400" y="229514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14400" y="29900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Full-Stack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14400" y="35204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Practicar frontend, backend, APIs y experiencia de usuario.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370832" y="1993392"/>
            <a:ext cx="3429000" cy="3611880"/>
          </a:xfrm>
          <a:prstGeom prst="roundRect">
            <a:avLst>
              <a:gd fmla="val 4267" name="adj"/>
            </a:avLst>
          </a:prstGeom>
          <a:solidFill>
            <a:srgbClr val="101621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645152" y="2286000"/>
            <a:ext cx="475488" cy="475488"/>
          </a:xfrm>
          <a:prstGeom prst="ellipse">
            <a:avLst/>
          </a:prstGeom>
          <a:solidFill>
            <a:srgbClr val="8B5CF6">
              <a:alpha val="92157"/>
            </a:srgbClr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645152" y="229514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645152" y="29900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DevOps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645152" y="35204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Aplicar Docker, control de versiones y despliegue portable.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101584" y="1993392"/>
            <a:ext cx="3429000" cy="3611880"/>
          </a:xfrm>
          <a:prstGeom prst="roundRect">
            <a:avLst>
              <a:gd fmla="val 4267" name="adj"/>
            </a:avLst>
          </a:prstGeom>
          <a:solidFill>
            <a:srgbClr val="101621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375904" y="2286000"/>
            <a:ext cx="475488" cy="475488"/>
          </a:xfrm>
          <a:prstGeom prst="ellipse">
            <a:avLst/>
          </a:prstGeom>
          <a:solidFill>
            <a:srgbClr val="FFB86B">
              <a:alpha val="92157"/>
            </a:srgbClr>
          </a:solidFill>
          <a:ln cap="flat" cmpd="sng" w="12700">
            <a:solidFill>
              <a:srgbClr val="FFB8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375904" y="229514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375904" y="29900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Videojuegos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375904" y="352044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Aplicar ingeniería de software en un contexto cercano a la industria gamer.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731520" y="582472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Resultado esperado: un perfil versátil que combine desarrollo, datos e infraestructura.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04 · FACTIBILIDAD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¿Es realizable dentro de la asignatura?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Sí: el alcance se controla mediante un MVP y desarrollo iterativo.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58368" y="2011680"/>
            <a:ext cx="5193792" cy="1371600"/>
          </a:xfrm>
          <a:prstGeom prst="roundRect">
            <a:avLst>
              <a:gd fmla="val 1066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841248" y="2240280"/>
            <a:ext cx="475488" cy="475488"/>
          </a:xfrm>
          <a:prstGeom prst="ellipse">
            <a:avLst/>
          </a:prstGeom>
          <a:solidFill>
            <a:srgbClr val="35E0D0">
              <a:alpha val="92157"/>
            </a:srgbClr>
          </a:solidFill>
          <a:ln cap="flat" cmpd="sng" w="12700">
            <a:solidFill>
              <a:srgbClr val="35E0D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41248" y="224942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◷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481328" y="22128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18 semanas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481328" y="2587752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Tiempo disponible para diseño, desarrollo y pruebas.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190488" y="2011680"/>
            <a:ext cx="5193792" cy="1371600"/>
          </a:xfrm>
          <a:prstGeom prst="roundRect">
            <a:avLst>
              <a:gd fmla="val 1066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373368" y="2240280"/>
            <a:ext cx="475488" cy="475488"/>
          </a:xfrm>
          <a:prstGeom prst="ellipse">
            <a:avLst/>
          </a:prstGeom>
          <a:solidFill>
            <a:srgbClr val="8B5CF6">
              <a:alpha val="92157"/>
            </a:srgbClr>
          </a:solidFill>
          <a:ln cap="flat" cmpd="sng" w="12700">
            <a:solidFill>
              <a:srgbClr val="8B5C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373368" y="224942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7013448" y="22128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Recursos disponibles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013448" y="2587752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PC personal, Git/GitHub, Docker, BD relacional y herramientas web.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58368" y="3749040"/>
            <a:ext cx="5193792" cy="1371600"/>
          </a:xfrm>
          <a:prstGeom prst="roundRect">
            <a:avLst>
              <a:gd fmla="val 1066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41248" y="3977640"/>
            <a:ext cx="475488" cy="475488"/>
          </a:xfrm>
          <a:prstGeom prst="ellipse">
            <a:avLst/>
          </a:prstGeom>
          <a:solidFill>
            <a:srgbClr val="56E39F">
              <a:alpha val="92157"/>
            </a:srgbClr>
          </a:solidFill>
          <a:ln cap="flat" cmpd="sng" w="12700">
            <a:solidFill>
              <a:srgbClr val="56E39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41248" y="398678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481328" y="39502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Tecnología accesible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481328" y="4325112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Frameworks modernos, código abierto y documentación disponible.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190488" y="3749040"/>
            <a:ext cx="5193792" cy="1371600"/>
          </a:xfrm>
          <a:prstGeom prst="roundRect">
            <a:avLst>
              <a:gd fmla="val 10667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373368" y="3977640"/>
            <a:ext cx="475488" cy="475488"/>
          </a:xfrm>
          <a:prstGeom prst="ellipse">
            <a:avLst/>
          </a:prstGeom>
          <a:solidFill>
            <a:srgbClr val="FFB86B">
              <a:alpha val="92157"/>
            </a:srgbClr>
          </a:solidFill>
          <a:ln cap="flat" cmpd="sng" w="12700">
            <a:solidFill>
              <a:srgbClr val="FFB8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373368" y="3986784"/>
            <a:ext cx="47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◎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7013448" y="39502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Riesgo controlado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013448" y="4325112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La integración de APIs de terceros se reduce en esta fase mediante carga manual de nicks.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58368" y="5650992"/>
            <a:ext cx="10725912" cy="393192"/>
          </a:xfrm>
          <a:prstGeom prst="roundRect">
            <a:avLst>
              <a:gd fmla="val 37209" name="adj"/>
            </a:avLst>
          </a:prstGeom>
          <a:solidFill>
            <a:srgbClr val="121926"/>
          </a:solidFill>
          <a:ln cap="flat" cmpd="sng" w="12700">
            <a:solidFill>
              <a:srgbClr val="121926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68680" y="573328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Clave de factibilidad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2212848" y="5696712"/>
            <a:ext cx="8641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30"/>
              <a:buFont typeface="Arial"/>
              <a:buNone/>
            </a:pPr>
            <a:r>
              <a:rPr b="1" lang="en-US" sz="113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Priorizar el MVP y dejar integraciones avanzadas para etapas posteriores.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2D3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502920" y="34747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502920" y="62179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Carta Gantt · 18 semanas</a:t>
            </a:r>
            <a:endParaRPr/>
          </a:p>
        </p:txBody>
      </p:sp>
      <p:sp>
        <p:nvSpPr>
          <p:cNvPr id="256" name="Google Shape;256;p12"/>
          <p:cNvSpPr txBox="1"/>
          <p:nvPr/>
        </p:nvSpPr>
        <p:spPr>
          <a:xfrm>
            <a:off x="502920" y="11155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Esta secuencia muestra cómo el proyecto pasa de la definición al MVP y luego al cierre técnico.</a:t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502920" y="1627632"/>
            <a:ext cx="388620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576072" y="1700784"/>
            <a:ext cx="3739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ETAPA / ACTIVIDAD</a:t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4389120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4389120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4791456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4791456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5193792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5193792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5596128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5596128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5998464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5998464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6400800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6400800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803136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6803136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S7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7205472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7205472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7607808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7607808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8010144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8010144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8412480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8412480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S11</a:t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8814816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8814816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S12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9217152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9217152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S13</a:t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9619488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9619488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S14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10021824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10021824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S15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0424159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10424159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S16</a:t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10826496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10826496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S17</a:t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11228832" y="1627632"/>
            <a:ext cx="388620" cy="356616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 txBox="1"/>
          <p:nvPr/>
        </p:nvSpPr>
        <p:spPr>
          <a:xfrm>
            <a:off x="11228832" y="1700784"/>
            <a:ext cx="3886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S18</a:t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502920" y="1984248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576072" y="2048255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1197864" y="2034540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Levantamiento de Requerimientos</a:t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389120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791456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193792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596128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5998464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400800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6803136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205472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7607808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010144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8412480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8814816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9217152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9619488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0021824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0424159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0826496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1228832" y="198424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421124" y="2052828"/>
            <a:ext cx="740664" cy="182880"/>
          </a:xfrm>
          <a:prstGeom prst="rect">
            <a:avLst/>
          </a:prstGeom>
          <a:solidFill>
            <a:srgbClr val="22D3C6"/>
          </a:solidFill>
          <a:ln cap="flat" cmpd="sng" w="10150">
            <a:solidFill>
              <a:srgbClr val="22D3C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502920" y="2340864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576072" y="240487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/>
          </a:p>
        </p:txBody>
      </p:sp>
      <p:sp>
        <p:nvSpPr>
          <p:cNvPr id="319" name="Google Shape;319;p12"/>
          <p:cNvSpPr txBox="1"/>
          <p:nvPr/>
        </p:nvSpPr>
        <p:spPr>
          <a:xfrm>
            <a:off x="1197864" y="2391156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Diseño de la Base de Datos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4389120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791456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193792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596128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998464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400800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6803136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7205472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7607808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010144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8412480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8814816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9217152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9619488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0021824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0424159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0826496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1228832" y="234086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4823460" y="2409444"/>
            <a:ext cx="740664" cy="182880"/>
          </a:xfrm>
          <a:prstGeom prst="rect">
            <a:avLst/>
          </a:prstGeom>
          <a:solidFill>
            <a:srgbClr val="22D3C6"/>
          </a:solidFill>
          <a:ln cap="flat" cmpd="sng" w="10150">
            <a:solidFill>
              <a:srgbClr val="22D3C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02920" y="2697480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576072" y="2761488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22D3C6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1197864" y="2747772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Planificación y Gestión</a:t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4389120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791456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193792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5596128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5998464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400800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6803136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7205472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7607808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010144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412480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8814816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9217152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9619488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0021824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10424159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0826496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1228832" y="269748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5225796" y="2766060"/>
            <a:ext cx="740664" cy="182880"/>
          </a:xfrm>
          <a:prstGeom prst="rect">
            <a:avLst/>
          </a:prstGeom>
          <a:solidFill>
            <a:srgbClr val="22D3C6"/>
          </a:solidFill>
          <a:ln cap="flat" cmpd="sng" w="10150">
            <a:solidFill>
              <a:srgbClr val="22D3C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02920" y="3054096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576072" y="3118103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815CF6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1197864" y="3104388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Configuración del Entorno Backend</a:t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4389120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791456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193792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5596128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998464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6400800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6803136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7205472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7607808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8010144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8412480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8814816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9217152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9619488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0021824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10424159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0826496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1228832" y="305409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5628132" y="3122676"/>
            <a:ext cx="740664" cy="182880"/>
          </a:xfrm>
          <a:prstGeom prst="rect">
            <a:avLst/>
          </a:prstGeom>
          <a:solidFill>
            <a:srgbClr val="815CF6"/>
          </a:solidFill>
          <a:ln cap="flat" cmpd="sng" w="10150">
            <a:solidFill>
              <a:srgbClr val="815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502920" y="3410712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576072" y="3474720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815CF6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1197864" y="3461004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Desarrollo del Módulo de Usuarios</a:t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4389120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791456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5193792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5596128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5998464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400800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6803136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7205472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7607808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8010144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8412480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8814816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9217152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9619488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10021824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0424159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826496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1228832" y="341071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6030468" y="3479292"/>
            <a:ext cx="1143000" cy="182880"/>
          </a:xfrm>
          <a:prstGeom prst="rect">
            <a:avLst/>
          </a:prstGeom>
          <a:solidFill>
            <a:srgbClr val="815CF6"/>
          </a:solidFill>
          <a:ln cap="flat" cmpd="sng" w="10150">
            <a:solidFill>
              <a:srgbClr val="815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502920" y="3767328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576072" y="3831336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815CF6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/>
          </a:p>
        </p:txBody>
      </p:sp>
      <p:sp>
        <p:nvSpPr>
          <p:cNvPr id="407" name="Google Shape;407;p12"/>
          <p:cNvSpPr txBox="1"/>
          <p:nvPr/>
        </p:nvSpPr>
        <p:spPr>
          <a:xfrm>
            <a:off x="1197864" y="3817620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Desarrollo del Módulo de Matchmaking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4389120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791456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5193792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5596128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998464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6400800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6803136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7205472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7607808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8010144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8412480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8814816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9217152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9619488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10021824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10424159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10826496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11228832" y="376732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7237476" y="3835908"/>
            <a:ext cx="1143000" cy="182880"/>
          </a:xfrm>
          <a:prstGeom prst="rect">
            <a:avLst/>
          </a:prstGeom>
          <a:solidFill>
            <a:srgbClr val="815CF6"/>
          </a:solidFill>
          <a:ln cap="flat" cmpd="sng" w="10150">
            <a:solidFill>
              <a:srgbClr val="815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02920" y="4123944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576072" y="4187952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815CF6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/>
          </a:p>
        </p:txBody>
      </p:sp>
      <p:sp>
        <p:nvSpPr>
          <p:cNvPr id="429" name="Google Shape;429;p12"/>
          <p:cNvSpPr txBox="1"/>
          <p:nvPr/>
        </p:nvSpPr>
        <p:spPr>
          <a:xfrm>
            <a:off x="1197864" y="4174235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Desarrollo del Módulo de Torneos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4389120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791456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5193792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596128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5998464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400800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803136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7205472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7607808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8010144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8412480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8814816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9217152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9619488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10021824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10424159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10826496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11228832" y="4123944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444484" y="4192524"/>
            <a:ext cx="1143000" cy="182880"/>
          </a:xfrm>
          <a:prstGeom prst="rect">
            <a:avLst/>
          </a:prstGeom>
          <a:solidFill>
            <a:srgbClr val="815CF6"/>
          </a:solidFill>
          <a:ln cap="flat" cmpd="sng" w="10150">
            <a:solidFill>
              <a:srgbClr val="815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502920" y="4480560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576072" y="4544568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815CF6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/>
          </a:p>
        </p:txBody>
      </p:sp>
      <p:sp>
        <p:nvSpPr>
          <p:cNvPr id="451" name="Google Shape;451;p12"/>
          <p:cNvSpPr txBox="1"/>
          <p:nvPr/>
        </p:nvSpPr>
        <p:spPr>
          <a:xfrm>
            <a:off x="1197864" y="4530852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Desarrollo de Interfaces (Frontend)</a:t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4389120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791456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5193792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5596128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998464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6400800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803136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7205472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7607808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8010144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8412480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8814816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9217152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9619488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10021824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10424159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10826496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1228832" y="4480560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6432804" y="4549140"/>
            <a:ext cx="2752344" cy="182880"/>
          </a:xfrm>
          <a:prstGeom prst="rect">
            <a:avLst/>
          </a:prstGeom>
          <a:solidFill>
            <a:srgbClr val="815CF6"/>
          </a:solidFill>
          <a:ln cap="flat" cmpd="sng" w="10150">
            <a:solidFill>
              <a:srgbClr val="815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502920" y="4837176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576072" y="4901184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F5A949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/>
          </a:p>
        </p:txBody>
      </p:sp>
      <p:sp>
        <p:nvSpPr>
          <p:cNvPr id="473" name="Google Shape;473;p12"/>
          <p:cNvSpPr txBox="1"/>
          <p:nvPr/>
        </p:nvSpPr>
        <p:spPr>
          <a:xfrm>
            <a:off x="1197864" y="4887468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Contenerización (Docker)</a:t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4389120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791456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5193792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5596128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5998464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6400800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6803136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7205472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7607808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8010144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8412480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8814816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9217152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9619488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0021824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0424159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0826496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11228832" y="4837176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10053828" y="4905756"/>
            <a:ext cx="740664" cy="182880"/>
          </a:xfrm>
          <a:prstGeom prst="rect">
            <a:avLst/>
          </a:prstGeom>
          <a:solidFill>
            <a:srgbClr val="F5A949"/>
          </a:solidFill>
          <a:ln cap="flat" cmpd="sng" w="10150">
            <a:solidFill>
              <a:srgbClr val="F5A94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502920" y="5193792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 txBox="1"/>
          <p:nvPr/>
        </p:nvSpPr>
        <p:spPr>
          <a:xfrm>
            <a:off x="576072" y="5257800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F5A949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/>
          </a:p>
        </p:txBody>
      </p:sp>
      <p:sp>
        <p:nvSpPr>
          <p:cNvPr id="495" name="Google Shape;495;p12"/>
          <p:cNvSpPr txBox="1"/>
          <p:nvPr/>
        </p:nvSpPr>
        <p:spPr>
          <a:xfrm>
            <a:off x="1197864" y="5244084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Pruebas de Calidad y Validación</a:t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4389120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791456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5193792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5596128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5998464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400800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6803136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7205472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7607808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8010144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8412480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8814816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9217152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9619488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10021824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10424159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10826496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11228832" y="5193792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10053828" y="5262372"/>
            <a:ext cx="740664" cy="182880"/>
          </a:xfrm>
          <a:prstGeom prst="rect">
            <a:avLst/>
          </a:prstGeom>
          <a:solidFill>
            <a:srgbClr val="F5A949"/>
          </a:solidFill>
          <a:ln cap="flat" cmpd="sng" w="10150">
            <a:solidFill>
              <a:srgbClr val="F5A94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02920" y="5550408"/>
            <a:ext cx="388620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C273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 txBox="1"/>
          <p:nvPr/>
        </p:nvSpPr>
        <p:spPr>
          <a:xfrm>
            <a:off x="576072" y="5614416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">
                <a:solidFill>
                  <a:srgbClr val="F5A949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/>
          </a:p>
        </p:txBody>
      </p:sp>
      <p:sp>
        <p:nvSpPr>
          <p:cNvPr id="517" name="Google Shape;517;p12"/>
          <p:cNvSpPr txBox="1"/>
          <p:nvPr/>
        </p:nvSpPr>
        <p:spPr>
          <a:xfrm>
            <a:off x="1197864" y="5600700"/>
            <a:ext cx="309981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25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Despliegue y Entrega Final</a:t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4389120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4791456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5193792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596128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5998464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6400800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6803136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7205472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7607808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8010144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8412480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8814816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9217152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9619488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10021824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10424159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10826496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11228832" y="5550408"/>
            <a:ext cx="388620" cy="329184"/>
          </a:xfrm>
          <a:prstGeom prst="roundRect">
            <a:avLst>
              <a:gd fmla="val 16667" name="adj"/>
            </a:avLst>
          </a:prstGeom>
          <a:solidFill>
            <a:srgbClr val="0E141E"/>
          </a:solidFill>
          <a:ln cap="flat" cmpd="sng" w="10150">
            <a:solidFill>
              <a:srgbClr val="1923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11260836" y="5618988"/>
            <a:ext cx="338328" cy="182880"/>
          </a:xfrm>
          <a:prstGeom prst="rect">
            <a:avLst/>
          </a:prstGeom>
          <a:solidFill>
            <a:srgbClr val="F5A949"/>
          </a:solidFill>
          <a:ln cap="flat" cmpd="sng" w="10150">
            <a:solidFill>
              <a:srgbClr val="F5A94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502920" y="5961888"/>
            <a:ext cx="11183112" cy="502920"/>
          </a:xfrm>
          <a:prstGeom prst="roundRect">
            <a:avLst>
              <a:gd fmla="val 16667" name="adj"/>
            </a:avLst>
          </a:prstGeom>
          <a:solidFill>
            <a:srgbClr val="121A26"/>
          </a:solidFill>
          <a:ln cap="flat" cmpd="sng" w="10150">
            <a:solidFill>
              <a:srgbClr val="1F2B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2"/>
          <p:cNvSpPr txBox="1"/>
          <p:nvPr/>
        </p:nvSpPr>
        <p:spPr>
          <a:xfrm>
            <a:off x="749808" y="609904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LECTURA RÁPIDA</a:t>
            </a:r>
            <a:endParaRPr/>
          </a:p>
        </p:txBody>
      </p:sp>
      <p:sp>
        <p:nvSpPr>
          <p:cNvPr id="539" name="Google Shape;539;p12"/>
          <p:cNvSpPr txBox="1"/>
          <p:nvPr/>
        </p:nvSpPr>
        <p:spPr>
          <a:xfrm>
            <a:off x="1810512" y="6025896"/>
            <a:ext cx="9235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5F8FC"/>
                </a:solidFill>
                <a:latin typeface="Arial"/>
                <a:ea typeface="Arial"/>
                <a:cs typeface="Arial"/>
                <a:sym typeface="Arial"/>
              </a:rPr>
              <a:t>S1–S4 define · S4–S14 desarrollan · S15–S17 preparan cierre técnico · S18 entrega final.</a:t>
            </a:r>
            <a:endParaRPr/>
          </a:p>
        </p:txBody>
      </p:sp>
      <p:sp>
        <p:nvSpPr>
          <p:cNvPr id="540" name="Google Shape;540;p12"/>
          <p:cNvSpPr txBox="1"/>
          <p:nvPr/>
        </p:nvSpPr>
        <p:spPr>
          <a:xfrm>
            <a:off x="502920" y="6547104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PLAYMATCH · PROYECTO APT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3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05 · OBJETIVOS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Qué se busca lograr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Objetivos concretos, medibles mediante entregables técnicos.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658368" y="1947672"/>
            <a:ext cx="10716768" cy="987552"/>
          </a:xfrm>
          <a:prstGeom prst="roundRect">
            <a:avLst>
              <a:gd fmla="val 14815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886968" y="2203704"/>
            <a:ext cx="1417320" cy="274320"/>
          </a:xfrm>
          <a:prstGeom prst="roundRect">
            <a:avLst>
              <a:gd fmla="val 50000" name="adj"/>
            </a:avLst>
          </a:prstGeom>
          <a:solidFill>
            <a:srgbClr val="0E2627"/>
          </a:solidFill>
          <a:ln cap="flat" cmpd="sng" w="12700">
            <a:solidFill>
              <a:srgbClr val="0E2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941832" y="2226564"/>
            <a:ext cx="13075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2487168" y="2093976"/>
            <a:ext cx="85039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Desarrollar una plataforma web integral de emparejamiento social y gestión de torneos para la comunidad de jugadores, utilizando estándares de la industria y metodologías ágiles.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868680" y="3337560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1417320" y="331927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Diseñar e implementar el modelo de datos relacional.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868680" y="395020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1417320" y="393192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Construir backend e interfaz web con buenas prácticas.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868680" y="4562856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1417320" y="454456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Configurar ambientes de ejecución mediante Docker.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868680" y="5175504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1417320" y="5157216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Ejecutar pruebas de calidad y validación de requerimientos.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3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4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06 · METODOLOGÍA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Desarrollo ágil, iterativo e incremental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El proyecto se divide en sprints cortos para entregar incrementos funcionales y validar requisitos progresivamente.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14"/>
          <p:cNvCxnSpPr/>
          <p:nvPr/>
        </p:nvCxnSpPr>
        <p:spPr>
          <a:xfrm>
            <a:off x="2688336" y="3182112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263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1" name="Google Shape;571;p14"/>
          <p:cNvSpPr/>
          <p:nvPr/>
        </p:nvSpPr>
        <p:spPr>
          <a:xfrm>
            <a:off x="749808" y="2487168"/>
            <a:ext cx="950976" cy="950976"/>
          </a:xfrm>
          <a:prstGeom prst="ellipse">
            <a:avLst/>
          </a:prstGeom>
          <a:solidFill>
            <a:srgbClr val="35E0D0">
              <a:alpha val="92157"/>
            </a:srgbClr>
          </a:solidFill>
          <a:ln cap="flat" cmpd="sng" w="12700">
            <a:solidFill>
              <a:srgbClr val="35E0D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749808" y="2743200"/>
            <a:ext cx="950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612648" y="37307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Planificar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274320" y="4142232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Definir requerimientos y prioridad del MVP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Google Shape;575;p14"/>
          <p:cNvCxnSpPr/>
          <p:nvPr/>
        </p:nvCxnSpPr>
        <p:spPr>
          <a:xfrm>
            <a:off x="5477256" y="3182112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263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6" name="Google Shape;576;p14"/>
          <p:cNvSpPr/>
          <p:nvPr/>
        </p:nvSpPr>
        <p:spPr>
          <a:xfrm>
            <a:off x="3538728" y="2487168"/>
            <a:ext cx="950976" cy="950976"/>
          </a:xfrm>
          <a:prstGeom prst="ellipse">
            <a:avLst/>
          </a:prstGeom>
          <a:solidFill>
            <a:srgbClr val="8B5CF6">
              <a:alpha val="92157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538728" y="2743200"/>
            <a:ext cx="950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3401568" y="37307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Construir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3063240" y="4142232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Desarrollar por módulos y conectar componentes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14"/>
          <p:cNvCxnSpPr/>
          <p:nvPr/>
        </p:nvCxnSpPr>
        <p:spPr>
          <a:xfrm>
            <a:off x="8266176" y="3182112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26304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1" name="Google Shape;581;p14"/>
          <p:cNvSpPr/>
          <p:nvPr/>
        </p:nvSpPr>
        <p:spPr>
          <a:xfrm>
            <a:off x="6327648" y="2487168"/>
            <a:ext cx="950976" cy="950976"/>
          </a:xfrm>
          <a:prstGeom prst="ellipse">
            <a:avLst/>
          </a:prstGeom>
          <a:solidFill>
            <a:srgbClr val="FFB86B">
              <a:alpha val="92157"/>
            </a:srgbClr>
          </a:solidFill>
          <a:ln cap="flat" cmpd="sng" w="12700">
            <a:solidFill>
              <a:srgbClr val="FFB86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6327648" y="2743200"/>
            <a:ext cx="950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6190488" y="37307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5852160" y="4142232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Probar funcionalidad y ajustar errores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9116568" y="2487168"/>
            <a:ext cx="950976" cy="950976"/>
          </a:xfrm>
          <a:prstGeom prst="ellipse">
            <a:avLst/>
          </a:prstGeom>
          <a:solidFill>
            <a:srgbClr val="56E39F">
              <a:alpha val="92157"/>
            </a:srgbClr>
          </a:solidFill>
          <a:ln cap="flat" cmpd="sng" w="12700">
            <a:solidFill>
              <a:srgbClr val="56E39F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35E0D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9116568" y="2743200"/>
            <a:ext cx="950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B12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80B1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8979408" y="37307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Iterar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8641080" y="4142232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Incorporar mejoras al siguiente sprint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658368" y="5321808"/>
            <a:ext cx="10716768" cy="566928"/>
          </a:xfrm>
          <a:prstGeom prst="roundRect">
            <a:avLst>
              <a:gd fmla="val 25806" name="adj"/>
            </a:avLst>
          </a:prstGeom>
          <a:solidFill>
            <a:srgbClr val="121926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896112" y="547725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Método adaptado a trabajo individual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3108960" y="5422392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70"/>
              <a:buFont typeface="Arial"/>
              <a:buNone/>
            </a:pPr>
            <a:r>
              <a:rPr b="1" lang="en-US" sz="117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Priorizar entregas funcionales, documentar avances y mantener el alcance controlado.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4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5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08 · EVIDENCIAS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¿Cómo demostrar que el proyecto fue realizado?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Propuesta preliminar de evidencias, sujeta a acuerdo con el docente.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658368" y="1993392"/>
            <a:ext cx="5193792" cy="1408176"/>
          </a:xfrm>
          <a:prstGeom prst="roundRect">
            <a:avLst>
              <a:gd fmla="val 10390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859536" y="2194560"/>
            <a:ext cx="749808" cy="274320"/>
          </a:xfrm>
          <a:prstGeom prst="roundRect">
            <a:avLst>
              <a:gd fmla="val 50000" name="adj"/>
            </a:avLst>
          </a:prstGeom>
          <a:solidFill>
            <a:srgbClr val="0E2627"/>
          </a:solidFill>
          <a:ln cap="flat" cmpd="sng" w="12700">
            <a:solidFill>
              <a:srgbClr val="0E2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914400" y="2217420"/>
            <a:ext cx="640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1737360" y="215798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Repositorio GitHub + documentación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859536" y="263347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Evidencia del trabajo sistematizado, control de versiones y seguimiento del proyecto.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6190488" y="1993392"/>
            <a:ext cx="5193792" cy="1408176"/>
          </a:xfrm>
          <a:prstGeom prst="roundRect">
            <a:avLst>
              <a:gd fmla="val 10390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6391656" y="2194560"/>
            <a:ext cx="749808" cy="274320"/>
          </a:xfrm>
          <a:prstGeom prst="roundRect">
            <a:avLst>
              <a:gd fmla="val 50000" name="adj"/>
            </a:avLst>
          </a:prstGeom>
          <a:solidFill>
            <a:srgbClr val="0E2627"/>
          </a:solidFill>
          <a:ln cap="flat" cmpd="sng" w="12700">
            <a:solidFill>
              <a:srgbClr val="0E2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6446520" y="2217420"/>
            <a:ext cx="640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7269480" y="215798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Modelo de datos + diseño técnico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6391656" y="263347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Demuestra la construcción de la base relacional y la solución propuesta.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658368" y="3730752"/>
            <a:ext cx="5193792" cy="1408176"/>
          </a:xfrm>
          <a:prstGeom prst="roundRect">
            <a:avLst>
              <a:gd fmla="val 10390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859536" y="3931920"/>
            <a:ext cx="749808" cy="274320"/>
          </a:xfrm>
          <a:prstGeom prst="roundRect">
            <a:avLst>
              <a:gd fmla="val 50000" name="adj"/>
            </a:avLst>
          </a:prstGeom>
          <a:solidFill>
            <a:srgbClr val="2C2318"/>
          </a:solidFill>
          <a:ln cap="flat" cmpd="sng" w="12700">
            <a:solidFill>
              <a:srgbClr val="2C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914400" y="3954780"/>
            <a:ext cx="640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B86B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1737360" y="389534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MVP funcional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859536" y="437083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Permite verificar perfiles, matchmaking, torneos y flujo principal.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6190488" y="3730752"/>
            <a:ext cx="5193792" cy="1408176"/>
          </a:xfrm>
          <a:prstGeom prst="roundRect">
            <a:avLst>
              <a:gd fmla="val 10390" name="adj"/>
            </a:avLst>
          </a:prstGeom>
          <a:solidFill>
            <a:srgbClr val="0E141E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6391656" y="3931920"/>
            <a:ext cx="749808" cy="274320"/>
          </a:xfrm>
          <a:prstGeom prst="roundRect">
            <a:avLst>
              <a:gd fmla="val 50000" name="adj"/>
            </a:avLst>
          </a:prstGeom>
          <a:solidFill>
            <a:srgbClr val="2C2318"/>
          </a:solidFill>
          <a:ln cap="flat" cmpd="sng" w="12700">
            <a:solidFill>
              <a:srgbClr val="2C23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5"/>
          <p:cNvSpPr/>
          <p:nvPr/>
        </p:nvSpPr>
        <p:spPr>
          <a:xfrm>
            <a:off x="6446520" y="3954780"/>
            <a:ext cx="640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E39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56E39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7269480" y="389534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Docker + pruebas + documentación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6391656" y="437083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Acredita portabilidad, validación funcional y preparación para entrega.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5"/>
          <p:cNvSpPr/>
          <p:nvPr/>
        </p:nvSpPr>
        <p:spPr>
          <a:xfrm>
            <a:off x="658368" y="5623560"/>
            <a:ext cx="10716768" cy="420624"/>
          </a:xfrm>
          <a:prstGeom prst="roundRect">
            <a:avLst>
              <a:gd fmla="val 34783" name="adj"/>
            </a:avLst>
          </a:prstGeom>
          <a:solidFill>
            <a:srgbClr val="121926"/>
          </a:solidFill>
          <a:ln cap="flat" cmpd="sng" w="12700">
            <a:solidFill>
              <a:srgbClr val="121926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5"/>
          <p:cNvSpPr/>
          <p:nvPr/>
        </p:nvSpPr>
        <p:spPr>
          <a:xfrm>
            <a:off x="868680" y="570585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Criterio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1481328" y="5669280"/>
            <a:ext cx="9372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80"/>
              <a:buFont typeface="Arial"/>
              <a:buNone/>
            </a:pPr>
            <a:r>
              <a:rPr b="1" lang="en-US" sz="108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Cada evidencia debe mostrar una parte verificable del desarrollo y su aporte al logro de los objetivos.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5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6"/>
          <p:cNvSpPr/>
          <p:nvPr/>
        </p:nvSpPr>
        <p:spPr>
          <a:xfrm>
            <a:off x="566928" y="41148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PlayMatch como proyecto de título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585216" y="134416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0DE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C8D0DE"/>
                </a:solidFill>
                <a:latin typeface="Arial"/>
                <a:ea typeface="Arial"/>
                <a:cs typeface="Arial"/>
                <a:sym typeface="Arial"/>
              </a:rPr>
              <a:t>Una propuesta técnicamente exigente, acotable a un MVP y alineada con el perfil profesional.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658368" y="2011680"/>
            <a:ext cx="3337560" cy="3520440"/>
          </a:xfrm>
          <a:prstGeom prst="roundRect">
            <a:avLst>
              <a:gd fmla="val 4384" name="adj"/>
            </a:avLst>
          </a:prstGeom>
          <a:solidFill>
            <a:srgbClr val="101621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914400" y="2304288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30151B"/>
          </a:solidFill>
          <a:ln cap="flat" cmpd="sng" w="12700">
            <a:solidFill>
              <a:srgbClr val="301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969264" y="2327148"/>
            <a:ext cx="7589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7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6B7A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914400" y="2834640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Aislamiento,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toxicidad 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fragmentación.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4416552" y="2011680"/>
            <a:ext cx="3337560" cy="3520440"/>
          </a:xfrm>
          <a:prstGeom prst="roundRect">
            <a:avLst>
              <a:gd fmla="val 4384" name="adj"/>
            </a:avLst>
          </a:prstGeom>
          <a:solidFill>
            <a:srgbClr val="101621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4672584" y="2304288"/>
            <a:ext cx="896112" cy="274320"/>
          </a:xfrm>
          <a:prstGeom prst="roundRect">
            <a:avLst>
              <a:gd fmla="val 50000" name="adj"/>
            </a:avLst>
          </a:prstGeom>
          <a:solidFill>
            <a:srgbClr val="0E2627"/>
          </a:solidFill>
          <a:ln cap="flat" cmpd="sng" w="12700">
            <a:solidFill>
              <a:srgbClr val="0E26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4727448" y="2327148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4672584" y="2834640"/>
            <a:ext cx="2560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Matchmaking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social +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torneos.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8174736" y="2011680"/>
            <a:ext cx="3337560" cy="3520440"/>
          </a:xfrm>
          <a:prstGeom prst="roundRect">
            <a:avLst>
              <a:gd fmla="val 4384" name="adj"/>
            </a:avLst>
          </a:prstGeom>
          <a:solidFill>
            <a:srgbClr val="101621"/>
          </a:solidFill>
          <a:ln cap="flat" cmpd="sng" w="12700">
            <a:solidFill>
              <a:srgbClr val="26304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8430768" y="2304288"/>
            <a:ext cx="896112" cy="274320"/>
          </a:xfrm>
          <a:prstGeom prst="roundRect">
            <a:avLst>
              <a:gd fmla="val 50000" name="adj"/>
            </a:avLst>
          </a:prstGeom>
          <a:solidFill>
            <a:srgbClr val="11271E"/>
          </a:solidFill>
          <a:ln cap="flat" cmpd="sng" w="12700">
            <a:solidFill>
              <a:srgbClr val="112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8485632" y="2327148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E39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56E39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8430768" y="2834640"/>
            <a:ext cx="26974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Una plataforma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concreta para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 comunidad gamer.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777240" y="5788152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E0D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35E0D0"/>
                </a:solidFill>
                <a:latin typeface="Arial"/>
                <a:ea typeface="Arial"/>
                <a:cs typeface="Arial"/>
                <a:sym typeface="Arial"/>
              </a:rPr>
              <a:t>Meta de esta etapa: convertir la idea en un MVP funcional, evaluable y documentado.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6"/>
          <p:cNvSpPr txBox="1"/>
          <p:nvPr>
            <p:ph idx="4294967295" type="sldNum"/>
          </p:nvPr>
        </p:nvSpPr>
        <p:spPr>
          <a:xfrm>
            <a:off x="11631168" y="64328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A6B1C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800">
              <a:solidFill>
                <a:srgbClr val="7C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