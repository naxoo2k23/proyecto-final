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brevemente PlayMatch como una plataforma orientada a mejorar la experiencia de los videojuegos competitivos, ayudando a encontrar compañeros confiables y facilitando la coordinación de jugadores.</a:t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la Fase 2 consolidó un producto mínimo viable con módulos principales y un flujo de autenticación más claro. Aclarar que el almacenamiento del prototipo sigue siendo en memoria, aunque existe un esquema SQL preparado.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2a78b9ad45d87e26_1_17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h2a78b9ad45d87e26_1_17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la Fase 2 consolidó un producto mínimo viable con módulos principales y un flujo de autenticación más claro. Aclarar que el almacenamiento del prototipo sigue siendo en memoria, aunque existe un esquema SQL preparado.</a:t>
            </a:r>
            <a:endParaRPr/>
          </a:p>
        </p:txBody>
      </p:sp>
      <p:sp>
        <p:nvSpPr>
          <p:cNvPr id="119" name="Google Shape;119;h2a78b9ad45d87e26_1_17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Recorrer los cuatro módulos. No afirmar que la puntuación Zero Toxic está totalmente automatizada: es una línea de trabajo futura, mientras que la plataforma ya contempla filtros y campos relacionados con conducta y reputación.</a:t>
            </a:r>
            <a:endParaRPr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Describir el recorrido: la interfaz hace peticiones fetch a la API REST; el servidor nativo de Java atiende los endpoints y consulta o actualiza el repositorio en memoria. El esquema SQL define una futura persistencia relacional, pero no confundirlo con la persistencia activa del prototipo.</a:t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Enfatizar que los ajustes fueron iterativos: se identificó el problema, se evaluó el impacto en usabilidad y se implementó una solución concreta. La persistencia de sesión descrita es del lado cliente; no equivale todavía a un sistema de tokens JWT.</a:t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son controles implementados en el prototipo. No describir la seguridad como definitiva: quedan mejoras para almacenamiento seguro de contraseñas y gestión de sesión.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el desarrollo fue individual. Esto aumentó la responsabilidad y carga operativa, pero permitió mantener coherencia transversal entre arquitectura, backend, frontend, datos y QA.</a:t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2a78b9ad45d87e26_1_20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2a78b9ad45d87e26_1_2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resumiendo los resultados y reconocer que aún existen mejoras planificadas. Invitar a preguntas sobre decisiones de arquitectura, ajustes realizados o próximos pasos.</a:t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a78b9ad45d87e26_102_0)">
  <p:cSld name="Generated (h2a78b9ad45d87e26_10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292215" y="411485"/>
            <a:ext cx="694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PORTAFOLIO DE TÍTULO · FASE 2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00807" y="996020"/>
            <a:ext cx="713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PLAYMATCH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200790" y="1942805"/>
            <a:ext cx="658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Una plataforma para encontrar equipo,</a:t>
            </a:r>
            <a:br>
              <a:rPr b="0" i="0" lang="en-US" sz="23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3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competir y jugar con menos toxicidad.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00765" y="482977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Jesús Villasanti · Ingeniería en Informática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200765" y="5447720"/>
            <a:ext cx="676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Asignatura: Portafolio de Título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77240" y="60807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Avance del proyecto · Informe Fase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640080" y="320040"/>
            <a:ext cx="1088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Introducción y estado actual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58368" y="1033271"/>
            <a:ext cx="1069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Qué problema aborda PlayMatch y qué se logró en la Fase 2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31520" y="1691640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40074" y="2191059"/>
            <a:ext cx="4481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Encontrar compañeros compatibles en juegos competitivos puede ser difícil. La toxicidad y la falta de coordinación afectan la experiencia de juego.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309360" y="1691640"/>
            <a:ext cx="49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LA PROPUESTA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217935" y="2255465"/>
            <a:ext cx="4937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Centralizar el buscador de jugadores, perfiles competitivos, torneos y chat en una plataforma web con foco en comunidad y conducta.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40080" y="3952875"/>
            <a:ext cx="2524200" cy="1476300"/>
          </a:xfrm>
          <a:prstGeom prst="roundRect">
            <a:avLst>
              <a:gd fmla="val 12903" name="adj"/>
            </a:avLst>
          </a:prstGeom>
          <a:solidFill>
            <a:srgbClr val="151224"/>
          </a:solidFill>
          <a:ln cap="flat" cmpd="sng" w="9525">
            <a:solidFill>
              <a:srgbClr val="312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81050" y="4048125"/>
            <a:ext cx="2305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Interfaz de login y registro</a:t>
            </a:r>
            <a:endParaRPr b="1" sz="130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81050" y="4524375"/>
            <a:ext cx="23052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Registro, acceso y control de sesión independiente.</a:t>
            </a:r>
            <a:endParaRPr b="0" sz="11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429000" y="3952875"/>
            <a:ext cx="2524200" cy="1476300"/>
          </a:xfrm>
          <a:prstGeom prst="roundRect">
            <a:avLst>
              <a:gd fmla="val 12903" name="adj"/>
            </a:avLst>
          </a:prstGeom>
          <a:solidFill>
            <a:srgbClr val="151224"/>
          </a:solidFill>
          <a:ln cap="flat" cmpd="sng" w="9525">
            <a:solidFill>
              <a:srgbClr val="312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571875" y="4048125"/>
            <a:ext cx="23052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Interfaz de jugadores y torneos</a:t>
            </a:r>
            <a:endParaRPr b="1" sz="130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571875" y="4524375"/>
            <a:ext cx="23052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Buscador LFG y visualización de competidores y llaves.</a:t>
            </a:r>
            <a:endParaRPr b="0" sz="11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217920" y="3952875"/>
            <a:ext cx="2524200" cy="1476300"/>
          </a:xfrm>
          <a:prstGeom prst="roundRect">
            <a:avLst>
              <a:gd fmla="val 12903" name="adj"/>
            </a:avLst>
          </a:prstGeom>
          <a:solidFill>
            <a:srgbClr val="151224"/>
          </a:solidFill>
          <a:ln cap="flat" cmpd="sng" w="9525">
            <a:solidFill>
              <a:srgbClr val="312A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60795" y="4048125"/>
            <a:ext cx="2305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Perfil propio</a:t>
            </a:r>
            <a:endParaRPr b="1" sz="130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360795" y="4524375"/>
            <a:ext cx="23052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Posibilidad de edición de perfil propio (Mejorable).</a:t>
            </a:r>
            <a:endParaRPr b="0" sz="11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9006840" y="3952875"/>
            <a:ext cx="2524200" cy="1476300"/>
          </a:xfrm>
          <a:prstGeom prst="roundRect">
            <a:avLst>
              <a:gd fmla="val 12903" name="adj"/>
            </a:avLst>
          </a:prstGeom>
          <a:solidFill>
            <a:srgbClr val="151224"/>
          </a:solidFill>
          <a:ln cap="flat" cmpd="sng" w="9525">
            <a:solidFill>
              <a:srgbClr val="312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9715" y="4048125"/>
            <a:ext cx="23052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Torneos activos</a:t>
            </a:r>
            <a:endParaRPr b="1" sz="130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149715" y="4524375"/>
            <a:ext cx="23052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Muestra torneos activos e iniciantes.</a:t>
            </a:r>
            <a:endParaRPr b="0" sz="11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675" y="1123950"/>
            <a:ext cx="869632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241550" y="190125"/>
            <a:ext cx="618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General del proyecto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0" y="93125"/>
            <a:ext cx="3032525" cy="328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263" y="93125"/>
            <a:ext cx="2625267" cy="32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600" y="4027250"/>
            <a:ext cx="5668948" cy="26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9050" y="3648525"/>
            <a:ext cx="5338976" cy="31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9475" y="93125"/>
            <a:ext cx="6245871" cy="36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640080" y="320040"/>
            <a:ext cx="1088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Arquitectura y tecnologías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40080" y="932688"/>
            <a:ext cx="1005900" cy="5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18"/>
          <p:cNvGrpSpPr/>
          <p:nvPr/>
        </p:nvGrpSpPr>
        <p:grpSpPr>
          <a:xfrm>
            <a:off x="640080" y="1033272"/>
            <a:ext cx="10881300" cy="333300"/>
            <a:chOff x="0" y="0"/>
            <a:chExt cx="10881300" cy="3333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0"/>
              <a:ext cx="108813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0" y="0"/>
              <a:ext cx="10881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Tecnologías clave y decisiones arquitectónicas del sistema</a:t>
              </a:r>
              <a:endParaRPr b="0" sz="12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640080" y="1571625"/>
            <a:ext cx="3429000" cy="2143200"/>
            <a:chOff x="0" y="0"/>
            <a:chExt cx="3429000" cy="21432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888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209550" y="142875"/>
              <a:ext cx="3048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Java 21 SE Nativo</a:t>
              </a:r>
              <a:endPara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HttpServer Nativo: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Sin Spring/Tomcat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Pool de 10 Hilos: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Concurrencia paralela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RESTful JSON: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Códigos HTTP semánticos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Eficiencia: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Arranque &lt;1s y &lt;40MB RAM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4459088" y="1500800"/>
            <a:ext cx="3429000" cy="2143200"/>
            <a:chOff x="135163" y="0"/>
            <a:chExt cx="3429000" cy="2143200"/>
          </a:xfrm>
        </p:grpSpPr>
        <p:sp>
          <p:nvSpPr>
            <p:cNvPr id="149" name="Google Shape;149;p18"/>
            <p:cNvSpPr/>
            <p:nvPr/>
          </p:nvSpPr>
          <p:spPr>
            <a:xfrm>
              <a:off x="135163" y="0"/>
              <a:ext cx="3429000" cy="2143200"/>
            </a:xfrm>
            <a:prstGeom prst="roundRect">
              <a:avLst>
                <a:gd fmla="val 8888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209550" y="142875"/>
              <a:ext cx="3048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JavaScript Vanilla ES6+</a:t>
              </a:r>
              <a:endPara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Zero Dependencias: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Carga limpia sin React/npm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Fetch API: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Comunicación </a:t>
              </a:r>
              <a:r>
                <a:rPr lang="en-US" sz="1100">
                  <a:solidFill>
                    <a:srgbClr val="B8B2CA"/>
                  </a:solidFill>
                </a:rPr>
                <a:t>asincrónica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Web Storage: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Persistencia inteligente de sesión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Seguridad: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Auth Guard y Anti-XSS (escapeHtml)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8122920" y="1571625"/>
            <a:ext cx="3429000" cy="2143200"/>
            <a:chOff x="0" y="0"/>
            <a:chExt cx="3429000" cy="2143200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888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209550" y="142875"/>
              <a:ext cx="3048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HTML5 &amp; CSS3 Moderno</a:t>
              </a:r>
              <a:endPara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Arquitectura SPA: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Navegación sin recarga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Vistas Independientes: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Auth desacoplado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Layout Adaptativo: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CSS Grid y Flexbox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Estética Gamer: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Modo oscuro con SVG vectorial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640080" y="3952875"/>
            <a:ext cx="5265300" cy="2095500"/>
            <a:chOff x="0" y="0"/>
            <a:chExt cx="5265300" cy="209550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5265300" cy="2095500"/>
            </a:xfrm>
            <a:prstGeom prst="roundRect">
              <a:avLst>
                <a:gd fmla="val 909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209550" y="142875"/>
              <a:ext cx="4857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SQL Relacional &amp; Repositorio Concurrente</a:t>
              </a:r>
              <a:endPara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Esquema 3NF: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Separación estricta entre credenciales (USERS) y datos públicos (PLAYER_PROFILES)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Thread-Safety: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Uso de ConcurrentHashMap en Java para prevenir condiciones de carrera al escribir datos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8"/>
          <p:cNvGrpSpPr/>
          <p:nvPr/>
        </p:nvGrpSpPr>
        <p:grpSpPr>
          <a:xfrm>
            <a:off x="6286500" y="3952875"/>
            <a:ext cx="5265300" cy="2095500"/>
            <a:chOff x="0" y="0"/>
            <a:chExt cx="5265300" cy="209550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5265300" cy="2095500"/>
            </a:xfrm>
            <a:prstGeom prst="roundRect">
              <a:avLst>
                <a:gd fmla="val 909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209550" y="142875"/>
              <a:ext cx="4857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Git &amp; GitHub Codespaces</a:t>
              </a:r>
              <a:endPara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Control de Versiones: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Flujo atómico de commits y trazabilidad completa de cambios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B8B2CA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Despliegue en la Nube:</a:t>
              </a:r>
              <a:r>
                <a:rPr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 Ejecución instantánea del servidor Java y frontend en cualquier equipo vía Codespaces</a:t>
              </a:r>
              <a:endParaRPr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640080" y="320040"/>
            <a:ext cx="1088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Ajustes a la propuesta: dificultades y soluciones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58368" y="932688"/>
            <a:ext cx="1005900" cy="504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58368" y="1033272"/>
            <a:ext cx="10698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Se resolvieron 6 dificultades clave durante el desarrollo para optimizar arquitectura, UX y estabilidad del sistema</a:t>
            </a:r>
            <a:endParaRPr b="0" i="0" sz="12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grpSp>
        <p:nvGrpSpPr>
          <p:cNvPr id="169" name="Google Shape;169;p19"/>
          <p:cNvGrpSpPr/>
          <p:nvPr/>
        </p:nvGrpSpPr>
        <p:grpSpPr>
          <a:xfrm>
            <a:off x="640080" y="1524000"/>
            <a:ext cx="3429000" cy="2143200"/>
            <a:chOff x="0" y="0"/>
            <a:chExt cx="3429000" cy="2143200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1. Autenticación desacoplada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Modal sobre dashboard provocaba destellos, vistas expuestas y flujo de navegación roto.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Páginas independientes (login/registro) + Auth Guard en JS que intercepta accesos no autorizados.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4381500" y="1524000"/>
            <a:ext cx="3429000" cy="2143200"/>
            <a:chOff x="0" y="0"/>
            <a:chExt cx="3429000" cy="2143200"/>
          </a:xfrm>
        </p:grpSpPr>
        <p:sp>
          <p:nvSpPr>
            <p:cNvPr id="173" name="Google Shape;173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2. Gestión de sesión flexible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Pérdida de estado al recargar vs. retención indefinida riesgosa en PCs compartidos.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Opción "Recordar contraseña" asigna localStorage (persistente) o sessionStorage (volátil).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19"/>
          <p:cNvGrpSpPr/>
          <p:nvPr/>
        </p:nvGrpSpPr>
        <p:grpSpPr>
          <a:xfrm>
            <a:off x="8122920" y="1524000"/>
            <a:ext cx="3429000" cy="2143200"/>
            <a:chOff x="0" y="0"/>
            <a:chExt cx="3429000" cy="2143200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3. Normalización de usuarios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Inconsistencias entre espacios y guiones bajos (ej. Jesus Villasanti) fallaban búsquedas y avatares.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Rutina backend Java en GestorBaseDatos que limpia y equipara ambos formatos.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640080" y="3857625"/>
            <a:ext cx="3429000" cy="2143200"/>
            <a:chOff x="0" y="0"/>
            <a:chExt cx="3429000" cy="21432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4. Estándar HTTP semántico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Simulaciones de error y fallos ficticios restaban seriedad técnica.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Respuestas reales HTTP/1.1 (200, 201, 400, 401, 409) conectadas al servidor Java 21 nativo.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381500" y="3857625"/>
            <a:ext cx="3429000" cy="2143200"/>
            <a:chOff x="0" y="0"/>
            <a:chExt cx="3429000" cy="2143200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5. Datos y contacto real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Cuentas ficticias tipo bot sin canal de contacto para coordinar partidas o torneos.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Incorporación de campo 'telefono' en BD/modelo y sembrado de jugadores reales locales.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8122920" y="3857625"/>
            <a:ext cx="3429000" cy="2143200"/>
            <a:chOff x="0" y="0"/>
            <a:chExt cx="3429000" cy="2143200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190500" y="152400"/>
              <a:ext cx="3095700" cy="18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6. Estructura de repositorio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Problema: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Subcarpeta Fase_2/ anidada dificultaba ejecución en Codespaces y rutas en VS Code.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Código trasladado a la raíz para ejecución directa (F5) y despliegue inmediato en la nube.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640080" y="320040"/>
            <a:ext cx="10881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5. Aspectos de seguridad y protección de datos</a:t>
            </a:r>
            <a:endParaRPr b="1" sz="280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58368" y="1033272"/>
            <a:ext cx="10698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Mecanismos técnicos de mitigación de riesgos, aislamiento de credenciales y sanitización</a:t>
            </a:r>
            <a:endParaRPr b="0" sz="12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grpSp>
        <p:nvGrpSpPr>
          <p:cNvPr id="195" name="Google Shape;195;p20"/>
          <p:cNvGrpSpPr/>
          <p:nvPr/>
        </p:nvGrpSpPr>
        <p:grpSpPr>
          <a:xfrm>
            <a:off x="640080" y="1524000"/>
            <a:ext cx="3429000" cy="2143200"/>
            <a:chOff x="0" y="0"/>
            <a:chExt cx="3429000" cy="2143200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20955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1. Guardia de Rutas (Auth Guard)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Riesgo: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Acceso directo por URL (index.html) sin autenticación previa.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Script en public/js/app.js inspecciona la sesión antes de dibujar el DOM; si es inválida, expulsa a login.html.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4381500" y="1524000"/>
            <a:ext cx="3429000" cy="2143200"/>
            <a:chOff x="0" y="0"/>
            <a:chExt cx="3429000" cy="2143200"/>
          </a:xfrm>
        </p:grpSpPr>
        <p:sp>
          <p:nvSpPr>
            <p:cNvPr id="199" name="Google Shape;199;p20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20955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2. Aislamiento de Credenciales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Riesgo: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Fuga de passwords, emails y teléfonos en endpoints comunitarios.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Separación estricta entre USERS y PLAYER_PROFILES. Las APIs públicas (/api/players) omiten datos privados.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8122920" y="1524000"/>
            <a:ext cx="3429000" cy="2143200"/>
            <a:chOff x="0" y="0"/>
            <a:chExt cx="3429000" cy="2143200"/>
          </a:xfrm>
        </p:grpSpPr>
        <p:sp>
          <p:nvSpPr>
            <p:cNvPr id="202" name="Google Shape;202;p20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20955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3. Persistencia Condicional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Riesgo: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Sesiones expuestas al olvidar cerrar cuenta en PCs compartidos.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Casilla "Recordar contraseña" conmuta entre localStorage (persistente) y sessionStorage (volátil autodestruible).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1524000" y="3857625"/>
            <a:ext cx="4381500" cy="2047800"/>
            <a:chOff x="0" y="0"/>
            <a:chExt cx="4381500" cy="2047800"/>
          </a:xfrm>
        </p:grpSpPr>
        <p:sp>
          <p:nvSpPr>
            <p:cNvPr id="205" name="Google Shape;205;p20"/>
            <p:cNvSpPr/>
            <p:nvPr/>
          </p:nvSpPr>
          <p:spPr>
            <a:xfrm>
              <a:off x="0" y="0"/>
              <a:ext cx="4381500" cy="2047800"/>
            </a:xfrm>
            <a:prstGeom prst="roundRect">
              <a:avLst>
                <a:gd fmla="val 8372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228600" y="152400"/>
              <a:ext cx="3962400" cy="17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4. Sanitización Anti-XSS (escapeHtml)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Riesgo: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Inyección de scripts (&lt;script&gt;) e HTML malicioso en el chat en vivo.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Función escapeHtml() convierte caracteres especiales (&lt;, &gt;, &amp;, ", ') en entidades HTML puras antes de inyectar en pantalla.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6286500" y="3857625"/>
            <a:ext cx="4381500" cy="2047800"/>
            <a:chOff x="0" y="0"/>
            <a:chExt cx="4381500" cy="2047800"/>
          </a:xfrm>
        </p:grpSpPr>
        <p:sp>
          <p:nvSpPr>
            <p:cNvPr id="208" name="Google Shape;208;p20"/>
            <p:cNvSpPr/>
            <p:nvPr/>
          </p:nvSpPr>
          <p:spPr>
            <a:xfrm>
              <a:off x="0" y="0"/>
              <a:ext cx="4381500" cy="2047800"/>
            </a:xfrm>
            <a:prstGeom prst="roundRect">
              <a:avLst>
                <a:gd fmla="val 8372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228600" y="152400"/>
              <a:ext cx="3962400" cy="17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5. Códigos Semánticos Anti-Enumeración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Riesgo: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Ataques de fuerza bruta y enumeración de usuarios registrados.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Solución: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Respuesta unificada 401 Unauthorized ("Credenciales inválidas") sin revelar cuál dato falló, junto con 409 Conflict y 400 Bad Request.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640080" y="6076950"/>
            <a:ext cx="10911900" cy="304800"/>
            <a:chOff x="0" y="0"/>
            <a:chExt cx="10911900" cy="304800"/>
          </a:xfrm>
        </p:grpSpPr>
        <p:sp>
          <p:nvSpPr>
            <p:cNvPr id="211" name="Google Shape;211;p20"/>
            <p:cNvSpPr/>
            <p:nvPr/>
          </p:nvSpPr>
          <p:spPr>
            <a:xfrm>
              <a:off x="0" y="0"/>
              <a:ext cx="109119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0" y="0"/>
              <a:ext cx="10911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Nota de arquitectura: El Auth Guard client-side optimiza la fluidez de navegación, siendo respaldado por validación y autorización formal en el servidor.</a:t>
              </a:r>
              <a:endParaRPr b="0" sz="11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/>
        </p:nvSpPr>
        <p:spPr>
          <a:xfrm>
            <a:off x="640080" y="320040"/>
            <a:ext cx="10881300" cy="4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rPr>
              <a:t>8. Factores facilitadores en la página web</a:t>
            </a:r>
            <a:endParaRPr b="1" i="0" sz="2590">
              <a:solidFill>
                <a:srgbClr val="F5F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58368" y="932688"/>
            <a:ext cx="1005900" cy="504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58368" y="1033272"/>
            <a:ext cx="106986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Decisiones técnicas que permitieron que la página web sea rápida, ligera y fácil de ejecutar</a:t>
            </a:r>
            <a:endParaRPr b="0" i="0" sz="1200">
              <a:solidFill>
                <a:srgbClr val="B8B2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grpSp>
        <p:nvGrpSpPr>
          <p:cNvPr id="222" name="Google Shape;222;p21"/>
          <p:cNvGrpSpPr/>
          <p:nvPr/>
        </p:nvGrpSpPr>
        <p:grpSpPr>
          <a:xfrm>
            <a:off x="640080" y="1524000"/>
            <a:ext cx="3429000" cy="2143200"/>
            <a:chOff x="0" y="0"/>
            <a:chExt cx="3429000" cy="2143200"/>
          </a:xfrm>
        </p:grpSpPr>
        <p:sp>
          <p:nvSpPr>
            <p:cNvPr id="223" name="Google Shape;223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1. Frontend JavaScript Vanilla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Sin frameworks (React, Angular, Vue) ni dependencias pesadas en node_modules.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Carga instantánea en cualquier navegador con manipulación directa del DOM.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4381500" y="1524000"/>
            <a:ext cx="3429000" cy="2143200"/>
            <a:chOff x="0" y="0"/>
            <a:chExt cx="3429000" cy="2143200"/>
          </a:xfrm>
        </p:grpSpPr>
        <p:sp>
          <p:nvSpPr>
            <p:cNvPr id="226" name="Google Shape;226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2. Backend Java 21 Nativo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Servidor HttpServer nativo del JDK sin Spring Boot ni servidores Tomcat.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Compilacion y arranque en menos de 1 segundo con consumo &lt;40 MB RAM.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8122920" y="1524000"/>
            <a:ext cx="3429000" cy="2143200"/>
            <a:chOff x="0" y="0"/>
            <a:chExt cx="3429000" cy="2143200"/>
          </a:xfrm>
        </p:grpSpPr>
        <p:sp>
          <p:nvSpPr>
            <p:cNvPr id="229" name="Google Shape;229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3. Arquitectura Desacoplada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Comunicación cliente-servidor mediante fetch() e intercambio exclusivo de JSON.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Modificaciones en HTML/CSS no afectan ni interrumpen la lógica del backend.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640080" y="3857625"/>
            <a:ext cx="3429000" cy="2143200"/>
            <a:chOff x="0" y="0"/>
            <a:chExt cx="3429000" cy="2143200"/>
          </a:xfrm>
        </p:grpSpPr>
        <p:sp>
          <p:nvSpPr>
            <p:cNvPr id="232" name="Google Shape;232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4. Scripts de 1 Clic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Automatización con run.bat y run.ps1 para compilar y abrir navegador.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Despliegue y pruebas locales inmediatas sin pasos manuales repetitivos.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4381500" y="3857625"/>
            <a:ext cx="3429000" cy="2143200"/>
            <a:chOff x="0" y="0"/>
            <a:chExt cx="3429000" cy="2143200"/>
          </a:xfrm>
        </p:grpSpPr>
        <p:sp>
          <p:nvSpPr>
            <p:cNvPr id="235" name="Google Shape;235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5. GitHub Codespaces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Soporte de ejecución cloud directo en navegador sin instalación de software.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Presentaciones en vivo sin requerir configuración previa en laboratorios.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8122920" y="3857625"/>
            <a:ext cx="3429000" cy="2143200"/>
            <a:chOff x="0" y="0"/>
            <a:chExt cx="3429000" cy="2143200"/>
          </a:xfrm>
        </p:grpSpPr>
        <p:sp>
          <p:nvSpPr>
            <p:cNvPr id="238" name="Google Shape;238;p21"/>
            <p:cNvSpPr/>
            <p:nvPr/>
          </p:nvSpPr>
          <p:spPr>
            <a:xfrm>
              <a:off x="0" y="0"/>
              <a:ext cx="3429000" cy="2143200"/>
            </a:xfrm>
            <a:prstGeom prst="roundRect">
              <a:avLst>
                <a:gd fmla="val 8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190500" y="152400"/>
              <a:ext cx="3048000" cy="18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6. Desarrollo Unipersonal</a:t>
              </a:r>
              <a:endParaRPr b="1" sz="13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Facilitador: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Criterio 100% unificado en diseño, paleta de colores y nombres de variables.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Resultado: </a:t>
              </a:r>
              <a:r>
                <a:rPr b="0" lang="en-US" sz="10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Código limpio, alta coherencia general y cero desalineaciones de equipo.</a:t>
              </a:r>
              <a:endParaRPr b="1" sz="105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2"/>
          <p:cNvGrpSpPr/>
          <p:nvPr/>
        </p:nvGrpSpPr>
        <p:grpSpPr>
          <a:xfrm>
            <a:off x="638175" y="304800"/>
            <a:ext cx="10915800" cy="762150"/>
            <a:chOff x="0" y="0"/>
            <a:chExt cx="10915800" cy="762150"/>
          </a:xfrm>
        </p:grpSpPr>
        <p:sp>
          <p:nvSpPr>
            <p:cNvPr id="245" name="Google Shape;245;p22"/>
            <p:cNvSpPr txBox="1"/>
            <p:nvPr/>
          </p:nvSpPr>
          <p:spPr>
            <a:xfrm>
              <a:off x="0" y="0"/>
              <a:ext cx="10858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1. Requisitos Troncales para la Fase 3</a:t>
              </a:r>
              <a:endParaRPr b="1" sz="2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0" y="457200"/>
              <a:ext cx="1085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rPr>
                <a:t>Cierre Académico de Titulación</a:t>
              </a:r>
              <a:endParaRPr b="0" sz="12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0" y="742950"/>
              <a:ext cx="10915800" cy="19200"/>
            </a:xfrm>
            <a:prstGeom prst="rect">
              <a:avLst/>
            </a:prstGeom>
            <a:solidFill>
              <a:srgbClr val="3027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2"/>
          <p:cNvGrpSpPr/>
          <p:nvPr/>
        </p:nvGrpSpPr>
        <p:grpSpPr>
          <a:xfrm>
            <a:off x="638175" y="1200150"/>
            <a:ext cx="2552700" cy="4724550"/>
            <a:chOff x="0" y="0"/>
            <a:chExt cx="2552700" cy="4724550"/>
          </a:xfrm>
        </p:grpSpPr>
        <p:sp>
          <p:nvSpPr>
            <p:cNvPr id="249" name="Google Shape;249;p22"/>
            <p:cNvSpPr txBox="1"/>
            <p:nvPr/>
          </p:nvSpPr>
          <p:spPr>
            <a:xfrm>
              <a:off x="0" y="0"/>
              <a:ext cx="2552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1. Requisitos Troncales</a:t>
              </a:r>
              <a:endParaRPr b="1" sz="1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" name="Google Shape;250;p22"/>
            <p:cNvGrpSpPr/>
            <p:nvPr/>
          </p:nvGrpSpPr>
          <p:grpSpPr>
            <a:xfrm>
              <a:off x="0" y="304800"/>
              <a:ext cx="2552700" cy="1047900"/>
              <a:chOff x="0" y="0"/>
              <a:chExt cx="2552700" cy="1047900"/>
            </a:xfrm>
          </p:grpSpPr>
          <p:sp>
            <p:nvSpPr>
              <p:cNvPr id="251" name="Google Shape;251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A. Persistencia Física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Migrar a PostgreSQL/SQLite. Uso de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HikariCP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y esquema 3NF.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2"/>
            <p:cNvGrpSpPr/>
            <p:nvPr/>
          </p:nvGrpSpPr>
          <p:grpSpPr>
            <a:xfrm>
              <a:off x="0" y="1428750"/>
              <a:ext cx="2552700" cy="1047900"/>
              <a:chOff x="0" y="0"/>
              <a:chExt cx="2552700" cy="1047900"/>
            </a:xfrm>
          </p:grpSpPr>
          <p:sp>
            <p:nvSpPr>
              <p:cNvPr id="255" name="Google Shape;255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B. Criptografía y Seguridad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Hashes con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BCrypt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y autenticación por tokens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JWT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(HMAC-SHA256).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22"/>
            <p:cNvGrpSpPr/>
            <p:nvPr/>
          </p:nvGrpSpPr>
          <p:grpSpPr>
            <a:xfrm>
              <a:off x="0" y="2552700"/>
              <a:ext cx="2552700" cy="1047900"/>
              <a:chOff x="0" y="0"/>
              <a:chExt cx="2552700" cy="1047900"/>
            </a:xfrm>
          </p:grpSpPr>
          <p:sp>
            <p:nvSpPr>
              <p:cNvPr id="259" name="Google Shape;259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C. Zero Toxic Score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Evaluación post-partida. Algoritmo de reputación que bloquea LFG &lt;60%.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22"/>
            <p:cNvGrpSpPr/>
            <p:nvPr/>
          </p:nvGrpSpPr>
          <p:grpSpPr>
            <a:xfrm>
              <a:off x="0" y="3676650"/>
              <a:ext cx="2552700" cy="1047900"/>
              <a:chOff x="0" y="0"/>
              <a:chExt cx="2552700" cy="1047900"/>
            </a:xfrm>
          </p:grpSpPr>
          <p:sp>
            <p:nvSpPr>
              <p:cNvPr id="263" name="Google Shape;263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D. Pruebas Automáticas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Arquetipo con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JUnit 5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para endpoints, brackets y sanitización.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6" name="Google Shape;266;p22"/>
          <p:cNvGrpSpPr/>
          <p:nvPr/>
        </p:nvGrpSpPr>
        <p:grpSpPr>
          <a:xfrm>
            <a:off x="3419475" y="1200150"/>
            <a:ext cx="2552700" cy="4724400"/>
            <a:chOff x="0" y="0"/>
            <a:chExt cx="2552700" cy="4724400"/>
          </a:xfrm>
        </p:grpSpPr>
        <p:sp>
          <p:nvSpPr>
            <p:cNvPr id="267" name="Google Shape;267;p22"/>
            <p:cNvSpPr txBox="1"/>
            <p:nvPr/>
          </p:nvSpPr>
          <p:spPr>
            <a:xfrm>
              <a:off x="0" y="0"/>
              <a:ext cx="2552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2. Infraestructura &amp; DevOps</a:t>
              </a:r>
              <a:endParaRPr b="1" sz="1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" name="Google Shape;268;p22"/>
            <p:cNvGrpSpPr/>
            <p:nvPr/>
          </p:nvGrpSpPr>
          <p:grpSpPr>
            <a:xfrm>
              <a:off x="0" y="304800"/>
              <a:ext cx="2552700" cy="1409700"/>
              <a:chOff x="0" y="0"/>
              <a:chExt cx="2552700" cy="14097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C4B5F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A. Containerización Docker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Multi-stage build (JDK 21 -&gt; Alpine &lt;100MB). Orquestación de app y DB vía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docker-compose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2" name="Google Shape;272;p22"/>
            <p:cNvGrpSpPr/>
            <p:nvPr/>
          </p:nvGrpSpPr>
          <p:grpSpPr>
            <a:xfrm>
              <a:off x="0" y="1809750"/>
              <a:ext cx="2552700" cy="1409700"/>
              <a:chOff x="0" y="0"/>
              <a:chExt cx="2552700" cy="1409700"/>
            </a:xfrm>
          </p:grpSpPr>
          <p:sp>
            <p:nvSpPr>
              <p:cNvPr id="273" name="Google Shape;273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C4B5F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B. Despliegue Cloud (CI/CD)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Pipeline en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GitHub Actions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. Despliegue en Render/AWS con SSL/HTTPS público.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" name="Google Shape;276;p22"/>
            <p:cNvGrpSpPr/>
            <p:nvPr/>
          </p:nvGrpSpPr>
          <p:grpSpPr>
            <a:xfrm>
              <a:off x="0" y="3314700"/>
              <a:ext cx="2552700" cy="1409700"/>
              <a:chOff x="0" y="0"/>
              <a:chExt cx="2552700" cy="1409700"/>
            </a:xfrm>
          </p:grpSpPr>
          <p:sp>
            <p:nvSpPr>
              <p:cNvPr id="277" name="Google Shape;277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C4B5F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C. WebSockets Tiempo Real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Reemplazo de polling por </a:t>
                </a:r>
                <a:r>
                  <a:rPr b="0" lang="en-US" sz="950">
                    <a:solidFill>
                      <a:srgbClr val="C4B5FD"/>
                    </a:solidFill>
                    <a:latin typeface="Arial"/>
                    <a:ea typeface="Arial"/>
                    <a:cs typeface="Arial"/>
                    <a:sym typeface="Arial"/>
                  </a:rPr>
                  <a:t>WebSockets (RFC 6455)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. Latencia &lt;50ms en chat y notificaciones.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0" name="Google Shape;280;p22"/>
          <p:cNvGrpSpPr/>
          <p:nvPr/>
        </p:nvGrpSpPr>
        <p:grpSpPr>
          <a:xfrm>
            <a:off x="6200775" y="1200150"/>
            <a:ext cx="2552700" cy="4724400"/>
            <a:chOff x="0" y="0"/>
            <a:chExt cx="2552700" cy="4724400"/>
          </a:xfrm>
        </p:grpSpPr>
        <p:sp>
          <p:nvSpPr>
            <p:cNvPr id="281" name="Google Shape;281;p22"/>
            <p:cNvSpPr txBox="1"/>
            <p:nvPr/>
          </p:nvSpPr>
          <p:spPr>
            <a:xfrm>
              <a:off x="0" y="0"/>
              <a:ext cx="2552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3. Visión Gamer Avanzada</a:t>
              </a:r>
              <a:endParaRPr b="1" sz="1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22"/>
            <p:cNvGrpSpPr/>
            <p:nvPr/>
          </p:nvGrpSpPr>
          <p:grpSpPr>
            <a:xfrm>
              <a:off x="0" y="304800"/>
              <a:ext cx="2552700" cy="1409700"/>
              <a:chOff x="0" y="0"/>
              <a:chExt cx="2552700" cy="1409700"/>
            </a:xfrm>
          </p:grpSpPr>
          <p:sp>
            <p:nvSpPr>
              <p:cNvPr id="283" name="Google Shape;283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APIs Oficiales de Juegos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con </a:t>
                </a:r>
                <a:r>
                  <a:rPr b="0" lang="en-US" sz="950">
                    <a:solidFill>
                      <a:srgbClr val="4ADE80"/>
                    </a:solidFill>
                    <a:latin typeface="Arial"/>
                    <a:ea typeface="Arial"/>
                    <a:cs typeface="Arial"/>
                    <a:sym typeface="Arial"/>
                  </a:rPr>
                  <a:t>Riot Games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y </a:t>
                </a:r>
                <a:r>
                  <a:rPr b="0" lang="en-US" sz="950">
                    <a:solidFill>
                      <a:srgbClr val="4ADE80"/>
                    </a:solidFill>
                    <a:latin typeface="Arial"/>
                    <a:ea typeface="Arial"/>
                    <a:cs typeface="Arial"/>
                    <a:sym typeface="Arial"/>
                  </a:rPr>
                  <a:t>Steam API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para rangos reales y K/D.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22"/>
            <p:cNvGrpSpPr/>
            <p:nvPr/>
          </p:nvGrpSpPr>
          <p:grpSpPr>
            <a:xfrm>
              <a:off x="0" y="1809750"/>
              <a:ext cx="2552700" cy="1409700"/>
              <a:chOff x="0" y="0"/>
              <a:chExt cx="2552700" cy="1409700"/>
            </a:xfrm>
          </p:grpSpPr>
          <p:sp>
            <p:nvSpPr>
              <p:cNvPr id="287" name="Google Shape;287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Generador de Brackets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Algoritmo dinámico para eliminación simple, doble y sistema suizo (</a:t>
                </a:r>
                <a:r>
                  <a:rPr b="0" lang="en-US" sz="950">
                    <a:solidFill>
                      <a:srgbClr val="4ADE80"/>
                    </a:solidFill>
                    <a:latin typeface="Arial"/>
                    <a:ea typeface="Arial"/>
                    <a:cs typeface="Arial"/>
                    <a:sym typeface="Arial"/>
                  </a:rPr>
                  <a:t>Swiss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).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22"/>
            <p:cNvGrpSpPr/>
            <p:nvPr/>
          </p:nvGrpSpPr>
          <p:grpSpPr>
            <a:xfrm>
              <a:off x="0" y="3314700"/>
              <a:ext cx="2552700" cy="1409700"/>
              <a:chOff x="0" y="0"/>
              <a:chExt cx="2552700" cy="1409700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0" y="0"/>
                <a:ext cx="2552700" cy="1409700"/>
              </a:xfrm>
              <a:prstGeom prst="roundRect">
                <a:avLst>
                  <a:gd fmla="val 6756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2"/>
              <p:cNvSpPr/>
              <p:nvPr/>
            </p:nvSpPr>
            <p:spPr>
              <a:xfrm>
                <a:off x="0" y="0"/>
                <a:ext cx="38100" cy="1409700"/>
              </a:xfrm>
              <a:prstGeom prst="roundRect">
                <a:avLst>
                  <a:gd fmla="val 50000" name="adj"/>
                </a:avLst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2"/>
              <p:cNvSpPr txBox="1"/>
              <p:nvPr/>
            </p:nvSpPr>
            <p:spPr>
              <a:xfrm>
                <a:off x="133350" y="114300"/>
                <a:ext cx="2305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Prize Pool Verificado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Integración con </a:t>
                </a:r>
                <a:r>
                  <a:rPr b="0" lang="en-US" sz="950">
                    <a:solidFill>
                      <a:srgbClr val="4ADE80"/>
                    </a:solidFill>
                    <a:latin typeface="Arial"/>
                    <a:ea typeface="Arial"/>
                    <a:cs typeface="Arial"/>
                    <a:sym typeface="Arial"/>
                  </a:rPr>
                  <a:t>Webpay / Mercado Pago</a:t>
                </a: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 para cuotas e incentivos en torneos.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4" name="Google Shape;294;p22"/>
          <p:cNvGrpSpPr/>
          <p:nvPr/>
        </p:nvGrpSpPr>
        <p:grpSpPr>
          <a:xfrm>
            <a:off x="8982075" y="1200150"/>
            <a:ext cx="2552700" cy="4724550"/>
            <a:chOff x="0" y="0"/>
            <a:chExt cx="2552700" cy="4724550"/>
          </a:xfrm>
        </p:grpSpPr>
        <p:sp>
          <p:nvSpPr>
            <p:cNvPr id="295" name="Google Shape;295;p22"/>
            <p:cNvSpPr txBox="1"/>
            <p:nvPr/>
          </p:nvSpPr>
          <p:spPr>
            <a:xfrm>
              <a:off x="0" y="0"/>
              <a:ext cx="2552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4. Inteligencia Artificial (IA)</a:t>
              </a:r>
              <a:endParaRPr b="1" sz="13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" name="Google Shape;296;p22"/>
            <p:cNvGrpSpPr/>
            <p:nvPr/>
          </p:nvGrpSpPr>
          <p:grpSpPr>
            <a:xfrm>
              <a:off x="0" y="304800"/>
              <a:ext cx="2552700" cy="1047900"/>
              <a:chOff x="0" y="0"/>
              <a:chExt cx="2552700" cy="1047900"/>
            </a:xfrm>
          </p:grpSpPr>
          <p:sp>
            <p:nvSpPr>
              <p:cNvPr id="297" name="Google Shape;297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A. Moderación NLP Chat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Detección contextual de toxicidad en tiempo real, Auto-Mute y ajuste de Zero Toxic Score.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0" name="Google Shape;300;p22"/>
            <p:cNvGrpSpPr/>
            <p:nvPr/>
          </p:nvGrpSpPr>
          <p:grpSpPr>
            <a:xfrm>
              <a:off x="0" y="1428750"/>
              <a:ext cx="2552700" cy="1047900"/>
              <a:chOff x="0" y="0"/>
              <a:chExt cx="2552700" cy="1047900"/>
            </a:xfrm>
          </p:grpSpPr>
          <p:sp>
            <p:nvSpPr>
              <p:cNvPr id="301" name="Google Shape;301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B. Smart Matchmaking AI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Clustering K-Means por temperamento y roles, calculando Chemistry Score de escuadra.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22"/>
            <p:cNvGrpSpPr/>
            <p:nvPr/>
          </p:nvGrpSpPr>
          <p:grpSpPr>
            <a:xfrm>
              <a:off x="0" y="2552700"/>
              <a:ext cx="2552700" cy="1047900"/>
              <a:chOff x="0" y="0"/>
              <a:chExt cx="2552700" cy="1047900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C. Coach Virtual Táctico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Asistente conversacional LLM para análisis de estadísticas, recomendación de roles y meta.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22"/>
            <p:cNvGrpSpPr/>
            <p:nvPr/>
          </p:nvGrpSpPr>
          <p:grpSpPr>
            <a:xfrm>
              <a:off x="0" y="3676650"/>
              <a:ext cx="2552700" cy="1047900"/>
              <a:chOff x="0" y="0"/>
              <a:chExt cx="2552700" cy="1047900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0" y="0"/>
                <a:ext cx="25527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151224"/>
              </a:solidFill>
              <a:ln cap="flat" cmpd="sng" w="9525">
                <a:solidFill>
                  <a:srgbClr val="312A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2"/>
              <p:cNvSpPr txBox="1"/>
              <p:nvPr/>
            </p:nvSpPr>
            <p:spPr>
              <a:xfrm>
                <a:off x="133350" y="95250"/>
                <a:ext cx="23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5F3FF"/>
                    </a:solidFill>
                    <a:latin typeface="Arial"/>
                    <a:ea typeface="Arial"/>
                    <a:cs typeface="Arial"/>
                    <a:sym typeface="Arial"/>
                  </a:rPr>
                  <a:t>D. Anti-Smurf (Anomaly)</a:t>
                </a:r>
                <a:endParaRPr b="1" sz="115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B8B2CA"/>
                    </a:solidFill>
                    <a:latin typeface="Arial"/>
                    <a:ea typeface="Arial"/>
                    <a:cs typeface="Arial"/>
                    <a:sym typeface="Arial"/>
                  </a:rPr>
                  <a:t>Detección de anomalías en KDA y nivel para reclasificar cuentas sospechosas en torneos.</a:t>
                </a:r>
                <a:endParaRPr b="0" sz="950">
                  <a:solidFill>
                    <a:srgbClr val="B8B2C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" name="Google Shape;312;p22"/>
          <p:cNvSpPr/>
          <p:nvPr/>
        </p:nvSpPr>
        <p:spPr>
          <a:xfrm>
            <a:off x="638175" y="6115050"/>
            <a:ext cx="10896600" cy="457200"/>
          </a:xfrm>
          <a:prstGeom prst="roundRect">
            <a:avLst>
              <a:gd fmla="val 16666" name="adj"/>
            </a:avLst>
          </a:prstGeom>
          <a:solidFill>
            <a:srgbClr val="151224"/>
          </a:solidFill>
          <a:ln cap="flat" cmpd="sng" w="9525">
            <a:solidFill>
              <a:srgbClr val="312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790575" y="6115050"/>
            <a:ext cx="1059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Objetivo Fase 3: </a:t>
            </a:r>
            <a:r>
              <a:rPr b="0" lang="en-US" sz="1000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Evolucionar la plataforma desde un MVP funcional hacia una arquitectura Cloud Native desacoplada, con IA (ServicioIA.java + API async), seguridad avanzada y alta escalabilidad.</a:t>
            </a:r>
            <a:endParaRPr b="1" sz="10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A14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/>
          <p:nvPr/>
        </p:nvSpPr>
        <p:spPr>
          <a:xfrm>
            <a:off x="11292840" y="6473952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2C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pSp>
        <p:nvGrpSpPr>
          <p:cNvPr id="320" name="Google Shape;320;p23"/>
          <p:cNvGrpSpPr/>
          <p:nvPr/>
        </p:nvGrpSpPr>
        <p:grpSpPr>
          <a:xfrm>
            <a:off x="339380" y="320040"/>
            <a:ext cx="11182000" cy="696800"/>
            <a:chOff x="-300700" y="0"/>
            <a:chExt cx="11182000" cy="696800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10881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-300700" y="194000"/>
              <a:ext cx="108813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5F3FF"/>
                  </a:solidFill>
                  <a:latin typeface="Arial"/>
                  <a:ea typeface="Arial"/>
                  <a:cs typeface="Arial"/>
                  <a:sym typeface="Arial"/>
                </a:rPr>
                <a:t> Demostración del sistema</a:t>
              </a:r>
              <a:endParaRPr b="1" sz="28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3"/>
          <p:cNvGrpSpPr/>
          <p:nvPr/>
        </p:nvGrpSpPr>
        <p:grpSpPr>
          <a:xfrm>
            <a:off x="655181" y="2301713"/>
            <a:ext cx="10881300" cy="2667000"/>
            <a:chOff x="0" y="-190500"/>
            <a:chExt cx="10881300" cy="2667000"/>
          </a:xfrm>
        </p:grpSpPr>
        <p:sp>
          <p:nvSpPr>
            <p:cNvPr id="324" name="Google Shape;324;p23"/>
            <p:cNvSpPr/>
            <p:nvPr/>
          </p:nvSpPr>
          <p:spPr>
            <a:xfrm>
              <a:off x="0" y="0"/>
              <a:ext cx="10881300" cy="2286000"/>
            </a:xfrm>
            <a:prstGeom prst="roundRect">
              <a:avLst>
                <a:gd fmla="val 10000" name="adj"/>
              </a:avLst>
            </a:prstGeom>
            <a:solidFill>
              <a:srgbClr val="151224"/>
            </a:solidFill>
            <a:ln cap="flat" cmpd="sng" w="9525">
              <a:solidFill>
                <a:srgbClr val="312A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0" y="190500"/>
              <a:ext cx="76200" cy="19050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4107180" y="-190500"/>
              <a:ext cx="2667000" cy="2667000"/>
            </a:xfrm>
            <a:prstGeom prst="ellipse">
              <a:avLst/>
            </a:prstGeom>
            <a:solidFill>
              <a:srgbClr val="7C3AED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5135880" y="409575"/>
              <a:ext cx="609600" cy="609600"/>
            </a:xfrm>
            <a:prstGeom prst="ellipse">
              <a:avLst/>
            </a:prstGeom>
            <a:solidFill>
              <a:srgbClr val="7C3AED">
                <a:alpha val="20000"/>
              </a:srgbClr>
            </a:solidFill>
            <a:ln cap="flat" cmpd="sng" w="1430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5381625" y="590550"/>
              <a:ext cx="162000" cy="247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381000" y="1095375"/>
              <a:ext cx="101193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DEMO EN VIVO</a:t>
              </a:r>
              <a:endParaRPr b="0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4B5FD"/>
                  </a:solidFill>
                  <a:latin typeface="Arial"/>
                  <a:ea typeface="Arial"/>
                  <a:cs typeface="Arial"/>
                  <a:sym typeface="Arial"/>
                </a:rPr>
                <a:t>Ejecución del Servidor HTTP y Navegación en la Aplicación Web SPA</a:t>
              </a:r>
              <a:endParaRPr b="0" sz="1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